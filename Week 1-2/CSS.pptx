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9" r:id="rId3"/>
    <p:sldId id="258" r:id="rId4"/>
    <p:sldId id="260" r:id="rId5"/>
    <p:sldId id="261" r:id="rId6"/>
    <p:sldId id="268" r:id="rId7"/>
    <p:sldId id="267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2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8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9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6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2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2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4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792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9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9254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30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7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1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1BD6-DE0D-4587-8DDF-0BCABAE746C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6C9152A-CC44-4AA5-A46C-7892204C6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0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</a:t>
            </a:r>
            <a:r>
              <a:rPr lang="en-US" dirty="0"/>
              <a:t>ascading </a:t>
            </a:r>
            <a:r>
              <a:rPr lang="en-US" b="1" dirty="0"/>
              <a:t>S</a:t>
            </a:r>
            <a:r>
              <a:rPr lang="en-US" dirty="0"/>
              <a:t>tyle </a:t>
            </a:r>
            <a:r>
              <a:rPr lang="en-US" b="1" dirty="0" smtClean="0"/>
              <a:t>S</a:t>
            </a:r>
            <a:r>
              <a:rPr lang="en-US" dirty="0" smtClean="0"/>
              <a:t>heets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</a:t>
            </a:r>
          </a:p>
          <a:p>
            <a:r>
              <a:rPr lang="en-US" dirty="0" smtClean="0"/>
              <a:t>Sobia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00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HTML Styling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Every HTML element has a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default style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(background color is white and text color is black).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Changing the default style of an HTML element, can be done with 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style attribute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3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</a:rPr>
              <a:t>Styling HTML with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CSS stands for </a:t>
            </a:r>
            <a:r>
              <a:rPr lang="en-US" b="1" dirty="0" smtClean="0"/>
              <a:t>C</a:t>
            </a:r>
            <a:r>
              <a:rPr lang="en-US" dirty="0" smtClean="0"/>
              <a:t>ascading </a:t>
            </a:r>
            <a:r>
              <a:rPr lang="en-US" b="1" dirty="0" smtClean="0"/>
              <a:t>S</a:t>
            </a:r>
            <a:r>
              <a:rPr lang="en-US" dirty="0" smtClean="0"/>
              <a:t>tyle </a:t>
            </a:r>
            <a:r>
              <a:rPr lang="en-US" b="1" dirty="0" smtClean="0"/>
              <a:t>S</a:t>
            </a:r>
            <a:r>
              <a:rPr lang="en-US" dirty="0" smtClean="0"/>
              <a:t>heets</a:t>
            </a:r>
          </a:p>
          <a:p>
            <a:pPr marL="0" indent="0">
              <a:buNone/>
            </a:pPr>
            <a:r>
              <a:rPr lang="en-US" dirty="0" smtClean="0"/>
              <a:t>It style the HTML files</a:t>
            </a:r>
          </a:p>
          <a:p>
            <a:pPr marL="0" indent="0">
              <a:buNone/>
            </a:pPr>
            <a:r>
              <a:rPr lang="en-US" dirty="0" smtClean="0"/>
              <a:t>Styling can be added to HTML elements in 3 ways: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Inline - using a </a:t>
            </a:r>
            <a:r>
              <a:rPr lang="en-US" b="1" dirty="0" smtClean="0"/>
              <a:t>style attribute</a:t>
            </a:r>
            <a:r>
              <a:rPr lang="en-US" dirty="0" smtClean="0"/>
              <a:t> in HTML elements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Internal - using a </a:t>
            </a:r>
            <a:r>
              <a:rPr lang="en-US" b="1" dirty="0" smtClean="0"/>
              <a:t>&lt;style&gt; element</a:t>
            </a:r>
            <a:r>
              <a:rPr lang="en-US" dirty="0" smtClean="0"/>
              <a:t> in the HTML &lt;head&gt; section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External - using one or more </a:t>
            </a:r>
            <a:r>
              <a:rPr lang="en-US" b="1" dirty="0" smtClean="0"/>
              <a:t>external CSS files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70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Fonts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419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&lt;!DOCTYPE html&gt;</a:t>
            </a:r>
            <a:br>
              <a:rPr lang="en-US" b="1" dirty="0" smtClean="0"/>
            </a:br>
            <a:r>
              <a:rPr lang="en-US" b="1" dirty="0" smtClean="0"/>
              <a:t>&lt;html&gt;</a:t>
            </a:r>
            <a:br>
              <a:rPr lang="en-US" b="1" dirty="0" smtClean="0"/>
            </a:br>
            <a:r>
              <a:rPr lang="en-US" b="1" dirty="0" smtClean="0"/>
              <a:t>&lt;head&gt;</a:t>
            </a:r>
            <a:br>
              <a:rPr lang="en-US" b="1" dirty="0" smtClean="0"/>
            </a:br>
            <a:r>
              <a:rPr lang="en-US" b="1" dirty="0" smtClean="0"/>
              <a:t>&lt;style&gt;</a:t>
            </a:r>
            <a:br>
              <a:rPr lang="en-US" b="1" dirty="0" smtClean="0"/>
            </a:br>
            <a:r>
              <a:rPr lang="en-US" b="1" dirty="0" smtClean="0"/>
              <a:t>h1 {</a:t>
            </a:r>
            <a:br>
              <a:rPr lang="en-US" b="1" dirty="0" smtClean="0"/>
            </a:br>
            <a:r>
              <a:rPr lang="en-US" b="1" dirty="0" smtClean="0"/>
              <a:t>    </a:t>
            </a:r>
            <a:r>
              <a:rPr lang="en-US" b="1" dirty="0" err="1" smtClean="0"/>
              <a:t>color:blue</a:t>
            </a:r>
            <a:r>
              <a:rPr lang="en-US" b="1" dirty="0" smtClean="0"/>
              <a:t>;</a:t>
            </a:r>
            <a:br>
              <a:rPr lang="en-US" b="1" dirty="0" smtClean="0"/>
            </a:br>
            <a:r>
              <a:rPr lang="en-US" b="1" dirty="0" smtClean="0"/>
              <a:t>    </a:t>
            </a:r>
            <a:r>
              <a:rPr lang="en-US" b="1" dirty="0" err="1" smtClean="0"/>
              <a:t>font-family:verdana</a:t>
            </a:r>
            <a:r>
              <a:rPr lang="en-US" b="1" dirty="0" smtClean="0"/>
              <a:t>;</a:t>
            </a:r>
            <a:br>
              <a:rPr lang="en-US" b="1" dirty="0" smtClean="0"/>
            </a:br>
            <a:r>
              <a:rPr lang="en-US" b="1" dirty="0" smtClean="0"/>
              <a:t>    font-size:300%;</a:t>
            </a:r>
            <a:br>
              <a:rPr lang="en-US" b="1" dirty="0" smtClean="0"/>
            </a:br>
            <a:r>
              <a:rPr lang="en-US" b="1" dirty="0" smtClean="0"/>
              <a:t>}</a:t>
            </a:r>
            <a:br>
              <a:rPr lang="en-US" b="1" dirty="0" smtClean="0"/>
            </a:br>
            <a:r>
              <a:rPr lang="en-US" b="1" dirty="0" smtClean="0"/>
              <a:t>p  {</a:t>
            </a:r>
            <a:br>
              <a:rPr lang="en-US" b="1" dirty="0" smtClean="0"/>
            </a:br>
            <a:r>
              <a:rPr lang="en-US" b="1" dirty="0" smtClean="0"/>
              <a:t>    </a:t>
            </a:r>
            <a:r>
              <a:rPr lang="en-US" b="1" dirty="0" err="1" smtClean="0"/>
              <a:t>color:red</a:t>
            </a:r>
            <a:r>
              <a:rPr lang="en-US" b="1" dirty="0" smtClean="0"/>
              <a:t>;</a:t>
            </a:r>
            <a:br>
              <a:rPr lang="en-US" b="1" dirty="0" smtClean="0"/>
            </a:br>
            <a:r>
              <a:rPr lang="en-US" b="1" dirty="0" smtClean="0"/>
              <a:t>    </a:t>
            </a:r>
            <a:r>
              <a:rPr lang="en-US" b="1" dirty="0" err="1" smtClean="0"/>
              <a:t>font-family:courier</a:t>
            </a:r>
            <a:r>
              <a:rPr lang="en-US" b="1" dirty="0" smtClean="0"/>
              <a:t>;</a:t>
            </a:r>
            <a:br>
              <a:rPr lang="en-US" b="1" dirty="0" smtClean="0"/>
            </a:br>
            <a:r>
              <a:rPr lang="en-US" b="1" dirty="0" smtClean="0"/>
              <a:t>    font-size:160%;</a:t>
            </a:r>
            <a:br>
              <a:rPr lang="en-US" b="1" dirty="0" smtClean="0"/>
            </a:br>
            <a:r>
              <a:rPr lang="en-US" b="1" dirty="0" smtClean="0"/>
              <a:t>}</a:t>
            </a:r>
            <a:br>
              <a:rPr lang="en-US" b="1" dirty="0" smtClean="0"/>
            </a:br>
            <a:r>
              <a:rPr lang="en-US" b="1" dirty="0" smtClean="0"/>
              <a:t>&lt;/style&gt;</a:t>
            </a:r>
            <a:br>
              <a:rPr lang="en-US" b="1" dirty="0" smtClean="0"/>
            </a:br>
            <a:r>
              <a:rPr lang="en-US" b="1" dirty="0" smtClean="0"/>
              <a:t>&lt;/head&gt;</a:t>
            </a:r>
            <a:br>
              <a:rPr lang="en-US" b="1" dirty="0" smtClean="0"/>
            </a:br>
            <a:r>
              <a:rPr lang="en-US" b="1" dirty="0" smtClean="0"/>
              <a:t>&lt;body&gt;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&lt;h1&gt;This is a heading&lt;/h1&gt;</a:t>
            </a:r>
            <a:br>
              <a:rPr lang="en-US" b="1" dirty="0" smtClean="0"/>
            </a:br>
            <a:r>
              <a:rPr lang="en-US" b="1" dirty="0" smtClean="0"/>
              <a:t>&lt;p&gt;This is a paragraph.&lt;/p&gt;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&lt;/body&gt;</a:t>
            </a:r>
            <a:br>
              <a:rPr lang="en-US" b="1" dirty="0" smtClean="0"/>
            </a:br>
            <a:r>
              <a:rPr lang="en-US" b="1" dirty="0" smtClean="0"/>
              <a:t>&lt;/html&gt;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50" y="2247174"/>
            <a:ext cx="6489699" cy="383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172200" y="1684337"/>
            <a:ext cx="4419600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1765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Box Model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435802" cy="137477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Box Model</a:t>
            </a:r>
          </a:p>
          <a:p>
            <a:pPr marL="0" indent="0">
              <a:buNone/>
            </a:pPr>
            <a:r>
              <a:rPr lang="en-US" dirty="0"/>
              <a:t>CSS </a:t>
            </a:r>
            <a:r>
              <a:rPr lang="en-US" b="1" dirty="0">
                <a:solidFill>
                  <a:srgbClr val="FF0000"/>
                </a:solidFill>
              </a:rPr>
              <a:t>border</a:t>
            </a:r>
            <a:r>
              <a:rPr lang="en-US" dirty="0"/>
              <a:t> property defines a visible border around an HTML element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1028" name="Picture 4" descr="CSS Box Model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043" y="2178238"/>
            <a:ext cx="7362825" cy="467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04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Box Model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419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Box Model</a:t>
            </a:r>
          </a:p>
          <a:p>
            <a:pPr marL="0" indent="0">
              <a:buNone/>
            </a:pPr>
            <a:r>
              <a:rPr lang="en-US" dirty="0"/>
              <a:t>CSS </a:t>
            </a:r>
            <a:r>
              <a:rPr lang="en-US" b="1" dirty="0">
                <a:solidFill>
                  <a:srgbClr val="FF0000"/>
                </a:solidFill>
              </a:rPr>
              <a:t>border</a:t>
            </a:r>
            <a:r>
              <a:rPr lang="en-US" dirty="0"/>
              <a:t> property defines a visible border around an HTML element: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Example:</a:t>
            </a:r>
          </a:p>
          <a:p>
            <a:pPr marL="0" indent="0">
              <a:buNone/>
            </a:pPr>
            <a:r>
              <a:rPr lang="en-US" dirty="0"/>
              <a:t>p {</a:t>
            </a:r>
            <a:br>
              <a:rPr lang="en-US" dirty="0"/>
            </a:br>
            <a:r>
              <a:rPr lang="en-US" dirty="0"/>
              <a:t>    border:1px solid black;</a:t>
            </a:r>
            <a:br>
              <a:rPr lang="en-US" dirty="0"/>
            </a:br>
            <a:r>
              <a:rPr lang="en-US" dirty="0" smtClean="0"/>
              <a:t>}</a:t>
            </a:r>
          </a:p>
          <a:p>
            <a:r>
              <a:rPr lang="en-US" dirty="0" err="1" smtClean="0"/>
              <a:t>Borde</a:t>
            </a:r>
            <a:r>
              <a:rPr lang="en-US" dirty="0" smtClean="0"/>
              <a:t>-style:</a:t>
            </a:r>
          </a:p>
          <a:p>
            <a:r>
              <a:rPr lang="en-US" dirty="0" smtClean="0"/>
              <a:t>dotted - Defines a dotted border</a:t>
            </a:r>
          </a:p>
          <a:p>
            <a:r>
              <a:rPr lang="en-US" dirty="0" smtClean="0"/>
              <a:t>dashed - Defines a dashed border</a:t>
            </a:r>
          </a:p>
          <a:p>
            <a:r>
              <a:rPr lang="en-US" dirty="0" smtClean="0"/>
              <a:t>solid - Defines a solid border</a:t>
            </a:r>
          </a:p>
          <a:p>
            <a:r>
              <a:rPr lang="en-US" dirty="0" smtClean="0"/>
              <a:t>double - Defines a double border</a:t>
            </a:r>
          </a:p>
          <a:p>
            <a:r>
              <a:rPr lang="en-US" dirty="0" smtClean="0"/>
              <a:t>groove - Defines a 3D grooved border. </a:t>
            </a:r>
          </a:p>
          <a:p>
            <a:r>
              <a:rPr lang="en-US" dirty="0" smtClean="0"/>
              <a:t>None- Defines no border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72200" y="1684337"/>
            <a:ext cx="4419600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152" y="2128904"/>
            <a:ext cx="4572000" cy="34311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406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Box Model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419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Border-style</a:t>
            </a:r>
            <a:r>
              <a:rPr lang="en-US" dirty="0"/>
              <a:t>:</a:t>
            </a:r>
          </a:p>
          <a:p>
            <a:r>
              <a:rPr lang="en-US" dirty="0"/>
              <a:t>dotted - Defines a dotted border</a:t>
            </a:r>
          </a:p>
          <a:p>
            <a:r>
              <a:rPr lang="en-US" dirty="0"/>
              <a:t>dashed - Defines a dashed border</a:t>
            </a:r>
          </a:p>
          <a:p>
            <a:r>
              <a:rPr lang="en-US" dirty="0"/>
              <a:t>solid - Defines a solid border</a:t>
            </a:r>
          </a:p>
          <a:p>
            <a:r>
              <a:rPr lang="en-US" dirty="0"/>
              <a:t>double - Defines a double border</a:t>
            </a:r>
          </a:p>
          <a:p>
            <a:r>
              <a:rPr lang="en-US" dirty="0"/>
              <a:t>groove - Defines a 3D grooved border. </a:t>
            </a:r>
          </a:p>
          <a:p>
            <a:r>
              <a:rPr lang="en-US" dirty="0"/>
              <a:t>None- Defines no </a:t>
            </a:r>
            <a:r>
              <a:rPr lang="en-US" dirty="0" smtClean="0"/>
              <a:t>border</a:t>
            </a:r>
          </a:p>
          <a:p>
            <a:pPr marL="0" indent="0">
              <a:buNone/>
            </a:pPr>
            <a:r>
              <a:rPr lang="en-US" dirty="0" smtClean="0"/>
              <a:t>Border sides</a:t>
            </a:r>
          </a:p>
          <a:p>
            <a:r>
              <a:rPr lang="en-US" dirty="0"/>
              <a:t>  border-top-style: dotted</a:t>
            </a:r>
            <a:r>
              <a:rPr lang="en-US" dirty="0" smtClean="0"/>
              <a:t>;</a:t>
            </a:r>
          </a:p>
          <a:p>
            <a:r>
              <a:rPr lang="en-US" dirty="0" smtClean="0"/>
              <a:t>border-right-style</a:t>
            </a:r>
            <a:r>
              <a:rPr lang="en-US" dirty="0"/>
              <a:t>: solid</a:t>
            </a:r>
            <a:r>
              <a:rPr lang="en-US" dirty="0" smtClean="0"/>
              <a:t>;</a:t>
            </a:r>
          </a:p>
          <a:p>
            <a:r>
              <a:rPr lang="en-US" dirty="0"/>
              <a:t>  border-bottom-style: dotted</a:t>
            </a:r>
            <a:r>
              <a:rPr lang="en-US" dirty="0" smtClean="0"/>
              <a:t>;</a:t>
            </a:r>
          </a:p>
          <a:p>
            <a:r>
              <a:rPr lang="en-US" dirty="0"/>
              <a:t>  border-left-style: solid;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72200" y="1684337"/>
            <a:ext cx="4419600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414225"/>
            <a:ext cx="4572000" cy="34311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575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padding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33988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The CSS </a:t>
            </a:r>
            <a:r>
              <a:rPr lang="en-US" b="1" dirty="0" smtClean="0">
                <a:solidFill>
                  <a:srgbClr val="FF0000"/>
                </a:solidFill>
              </a:rPr>
              <a:t>padding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property defines a padding (space) inside the border: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p {</a:t>
            </a:r>
            <a:br>
              <a:rPr lang="en-US" dirty="0" smtClean="0"/>
            </a:br>
            <a:r>
              <a:rPr lang="en-US" dirty="0" smtClean="0"/>
              <a:t>    border:1px solid black;</a:t>
            </a:r>
            <a:br>
              <a:rPr lang="en-US" dirty="0" smtClean="0"/>
            </a:br>
            <a:r>
              <a:rPr lang="en-US" dirty="0" smtClean="0"/>
              <a:t>    padding:10px;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Padding sides</a:t>
            </a:r>
          </a:p>
          <a:p>
            <a:r>
              <a:rPr lang="en-US" dirty="0"/>
              <a:t>  padding-top: 50px</a:t>
            </a:r>
            <a:r>
              <a:rPr lang="en-US" dirty="0" smtClean="0"/>
              <a:t>;</a:t>
            </a:r>
          </a:p>
          <a:p>
            <a:r>
              <a:rPr lang="en-US" dirty="0"/>
              <a:t>  padding-right: 30px</a:t>
            </a:r>
            <a:r>
              <a:rPr lang="en-US" dirty="0" smtClean="0"/>
              <a:t>;</a:t>
            </a:r>
          </a:p>
          <a:p>
            <a:r>
              <a:rPr lang="en-US" dirty="0"/>
              <a:t> padding-bottom: 50px</a:t>
            </a:r>
            <a:r>
              <a:rPr lang="en-US" dirty="0" smtClean="0"/>
              <a:t>;</a:t>
            </a:r>
          </a:p>
          <a:p>
            <a:r>
              <a:rPr lang="en-US" dirty="0"/>
              <a:t> </a:t>
            </a:r>
            <a:r>
              <a:rPr lang="en-US" dirty="0" smtClean="0"/>
              <a:t>padding-left</a:t>
            </a:r>
            <a:r>
              <a:rPr lang="en-US" dirty="0"/>
              <a:t>: 80px;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172200" y="1684337"/>
            <a:ext cx="4419600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847" y="2800690"/>
            <a:ext cx="6220352" cy="2871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127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CSS margin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33988" cy="4351338"/>
          </a:xfrm>
        </p:spPr>
        <p:txBody>
          <a:bodyPr/>
          <a:lstStyle/>
          <a:p>
            <a:r>
              <a:rPr lang="en-US" dirty="0" smtClean="0"/>
              <a:t>The CSS </a:t>
            </a:r>
            <a:r>
              <a:rPr lang="en-US" b="1" dirty="0" smtClean="0">
                <a:solidFill>
                  <a:srgbClr val="FF0000"/>
                </a:solidFill>
              </a:rPr>
              <a:t>margin</a:t>
            </a:r>
            <a:r>
              <a:rPr lang="en-US" dirty="0" smtClean="0"/>
              <a:t> property defines a margin (space) outside the border: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 smtClean="0"/>
              <a:t>p {</a:t>
            </a:r>
            <a:br>
              <a:rPr lang="en-US" dirty="0" smtClean="0"/>
            </a:br>
            <a:r>
              <a:rPr lang="en-US" dirty="0" smtClean="0"/>
              <a:t>    border:1px solid black;</a:t>
            </a:r>
            <a:br>
              <a:rPr lang="en-US" dirty="0" smtClean="0"/>
            </a:br>
            <a:r>
              <a:rPr lang="en-US" dirty="0" smtClean="0"/>
              <a:t>    padding:10px;</a:t>
            </a:r>
            <a:br>
              <a:rPr lang="en-US" dirty="0" smtClean="0"/>
            </a:br>
            <a:r>
              <a:rPr lang="en-US" dirty="0" smtClean="0"/>
              <a:t>    margin:30px;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172200" y="1684337"/>
            <a:ext cx="4419600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6" y="2414225"/>
            <a:ext cx="5781550" cy="348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746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6277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id Attribute: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All the examples above use CSS to style HTML elements in a general way.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To define a special style for one special element, first add an id attribute to the element: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&lt;p id="p01"&gt;I am different&lt;/p&gt; </a:t>
            </a:r>
          </a:p>
          <a:p>
            <a:pPr marL="0" indent="0">
              <a:buNone/>
            </a:pPr>
            <a:r>
              <a:rPr lang="en-US" dirty="0" smtClean="0"/>
              <a:t>then define a different style for the (identified) element.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p#p01 {</a:t>
            </a:r>
            <a:br>
              <a:rPr lang="en-US" dirty="0" smtClean="0"/>
            </a:br>
            <a:r>
              <a:rPr lang="en-US" dirty="0" smtClean="0"/>
              <a:t>    </a:t>
            </a:r>
            <a:r>
              <a:rPr lang="en-US" dirty="0" err="1" smtClean="0"/>
              <a:t>color:blue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100" y="5153026"/>
            <a:ext cx="478790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401050" y="3636350"/>
            <a:ext cx="1685925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454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class 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62775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800" dirty="0" smtClean="0"/>
              <a:t>To define a style for a special type (class) of elements, add a class attribute to the element:</a:t>
            </a:r>
          </a:p>
          <a:p>
            <a:pPr marL="0" indent="0">
              <a:buNone/>
            </a:pPr>
            <a:r>
              <a:rPr lang="en-US" sz="4800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Example:</a:t>
            </a:r>
          </a:p>
          <a:p>
            <a:pPr marL="0" indent="0">
              <a:buNone/>
            </a:pPr>
            <a:r>
              <a:rPr lang="en-US" sz="4800" dirty="0" smtClean="0"/>
              <a:t>&lt;p class="error"&gt;I am different&lt;/p&gt; </a:t>
            </a:r>
          </a:p>
          <a:p>
            <a:pPr marL="0" indent="0">
              <a:buNone/>
            </a:pPr>
            <a:r>
              <a:rPr lang="en-US" sz="4800" dirty="0" smtClean="0">
                <a:solidFill>
                  <a:srgbClr val="FF0000"/>
                </a:solidFill>
              </a:rPr>
              <a:t>Now you can define a different style for all elements with the specified class:</a:t>
            </a:r>
          </a:p>
          <a:p>
            <a:pPr marL="0" indent="0">
              <a:buNone/>
            </a:pPr>
            <a:r>
              <a:rPr lang="en-US" sz="4800" b="1" dirty="0" smtClean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4800" dirty="0" err="1" smtClean="0"/>
              <a:t>p.error</a:t>
            </a:r>
            <a:r>
              <a:rPr lang="en-US" sz="4800" dirty="0" smtClean="0"/>
              <a:t> {</a:t>
            </a:r>
            <a:br>
              <a:rPr lang="en-US" sz="4800" dirty="0" smtClean="0"/>
            </a:br>
            <a:r>
              <a:rPr lang="en-US" sz="4800" dirty="0" smtClean="0"/>
              <a:t>    </a:t>
            </a:r>
            <a:r>
              <a:rPr lang="en-US" sz="4800" dirty="0" err="1" smtClean="0"/>
              <a:t>color:red</a:t>
            </a:r>
            <a:r>
              <a:rPr lang="en-US" sz="4800" dirty="0" smtClean="0"/>
              <a:t>;</a:t>
            </a:r>
            <a:br>
              <a:rPr lang="en-US" sz="4800" dirty="0" smtClean="0"/>
            </a:br>
            <a:r>
              <a:rPr lang="en-US" sz="4800" dirty="0" smtClean="0"/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401050" y="3636350"/>
            <a:ext cx="1685925" cy="72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  <a:endParaRPr lang="en-US" dirty="0">
              <a:solidFill>
                <a:srgbClr val="FF0000"/>
              </a:solidFill>
              <a:latin typeface="Aharoni" pitchFamily="2" charset="-79"/>
              <a:cs typeface="Aharoni" pitchFamily="2" charset="-79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4508802"/>
            <a:ext cx="3187700" cy="1803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196</TotalTime>
  <Words>370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Aharoni</vt:lpstr>
      <vt:lpstr>Arial</vt:lpstr>
      <vt:lpstr>Times New Roman</vt:lpstr>
      <vt:lpstr>Trebuchet MS</vt:lpstr>
      <vt:lpstr>Wingdings</vt:lpstr>
      <vt:lpstr>Wingdings 3</vt:lpstr>
      <vt:lpstr>Facet</vt:lpstr>
      <vt:lpstr>Cascading Style Sheets</vt:lpstr>
      <vt:lpstr>HTML Styling</vt:lpstr>
      <vt:lpstr>Styling HTML with CSS</vt:lpstr>
      <vt:lpstr>CSS Fonts</vt:lpstr>
      <vt:lpstr>CSS Box Model</vt:lpstr>
      <vt:lpstr>CSS Box Model</vt:lpstr>
      <vt:lpstr>CSS Box Model</vt:lpstr>
      <vt:lpstr>CSS padding</vt:lpstr>
      <vt:lpstr>CSS margin</vt:lpstr>
      <vt:lpstr>Attributes</vt:lpstr>
      <vt:lpstr>class Attribute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11</cp:revision>
  <dcterms:created xsi:type="dcterms:W3CDTF">2026-02-26T09:10:36Z</dcterms:created>
  <dcterms:modified xsi:type="dcterms:W3CDTF">2026-02-27T10:20:12Z</dcterms:modified>
</cp:coreProperties>
</file>