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6" r:id="rId10"/>
    <p:sldId id="267" r:id="rId11"/>
    <p:sldId id="268" r:id="rId12"/>
    <p:sldId id="269" r:id="rId13"/>
    <p:sldId id="270" r:id="rId14"/>
    <p:sldId id="271" r:id="rId15"/>
    <p:sldId id="273" r:id="rId16"/>
    <p:sldId id="274" r:id="rId17"/>
    <p:sldId id="275" r:id="rId18"/>
    <p:sldId id="277" r:id="rId19"/>
    <p:sldId id="278" r:id="rId20"/>
    <p:sldId id="280" r:id="rId21"/>
    <p:sldId id="281" r:id="rId22"/>
    <p:sldId id="282" r:id="rId23"/>
    <p:sldId id="283" r:id="rId24"/>
    <p:sldId id="284" r:id="rId25"/>
    <p:sldId id="285" r:id="rId26"/>
    <p:sldId id="286" r:id="rId27"/>
    <p:sldId id="287" r:id="rId28"/>
    <p:sldId id="288" r:id="rId29"/>
    <p:sldId id="289" r:id="rId30"/>
    <p:sldId id="290" r:id="rId31"/>
    <p:sldId id="291" r:id="rId32"/>
    <p:sldId id="292" r:id="rId33"/>
    <p:sldId id="293" r:id="rId34"/>
    <p:sldId id="294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0" d="100"/>
          <a:sy n="70" d="100"/>
        </p:scale>
        <p:origin x="636" y="-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B0ED2-6E99-47A6-808B-A0588963C995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2FD45-3E81-453C-9403-BE64398DB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8295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B0ED2-6E99-47A6-808B-A0588963C995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2FD45-3E81-453C-9403-BE64398DB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0460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B0ED2-6E99-47A6-808B-A0588963C995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2FD45-3E81-453C-9403-BE64398DB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924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B0ED2-6E99-47A6-808B-A0588963C995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2FD45-3E81-453C-9403-BE64398DB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194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B0ED2-6E99-47A6-808B-A0588963C995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2FD45-3E81-453C-9403-BE64398DB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12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B0ED2-6E99-47A6-808B-A0588963C995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2FD45-3E81-453C-9403-BE64398DB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6606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B0ED2-6E99-47A6-808B-A0588963C995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2FD45-3E81-453C-9403-BE64398DB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2492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B0ED2-6E99-47A6-808B-A0588963C995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2FD45-3E81-453C-9403-BE64398DB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300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B0ED2-6E99-47A6-808B-A0588963C995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2FD45-3E81-453C-9403-BE64398DB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659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B0ED2-6E99-47A6-808B-A0588963C995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2FD45-3E81-453C-9403-BE64398DB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5525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B0ED2-6E99-47A6-808B-A0588963C995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2FD45-3E81-453C-9403-BE64398DB025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284076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B0ED2-6E99-47A6-808B-A0588963C995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2FD45-3E81-453C-9403-BE64398DB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1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B0ED2-6E99-47A6-808B-A0588963C995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2FD45-3E81-453C-9403-BE64398DB025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822661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B0ED2-6E99-47A6-808B-A0588963C995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2FD45-3E81-453C-9403-BE64398DB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7888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B0ED2-6E99-47A6-808B-A0588963C995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2FD45-3E81-453C-9403-BE64398DB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7955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B0ED2-6E99-47A6-808B-A0588963C995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2FD45-3E81-453C-9403-BE64398DB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5651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3B0ED2-6E99-47A6-808B-A0588963C995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F82FD45-3E81-453C-9403-BE64398DB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8006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://www.w3schools.com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479675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b="1" dirty="0" smtClean="0"/>
              <a:t>Web Development Bootcamp</a:t>
            </a:r>
            <a:br>
              <a:rPr lang="en-US" b="1" dirty="0" smtClean="0"/>
            </a:br>
            <a:r>
              <a:rPr lang="en-US" b="1" dirty="0" smtClean="0"/>
              <a:t>Class – 2: HTML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445000"/>
            <a:ext cx="9144000" cy="1655762"/>
          </a:xfrm>
        </p:spPr>
        <p:txBody>
          <a:bodyPr/>
          <a:lstStyle/>
          <a:p>
            <a:r>
              <a:rPr lang="en-US" dirty="0" smtClean="0"/>
              <a:t>Trainer: Sobia Noor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0114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HTML Syntax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Aharoni" pitchFamily="2" charset="-79"/>
                <a:cs typeface="Aharoni" pitchFamily="2" charset="-79"/>
              </a:rPr>
              <a:t>&lt;!DOCTYPE html&gt;</a:t>
            </a:r>
            <a:br>
              <a:rPr lang="en-US" dirty="0" smtClean="0">
                <a:latin typeface="Aharoni" pitchFamily="2" charset="-79"/>
                <a:cs typeface="Aharoni" pitchFamily="2" charset="-79"/>
              </a:rPr>
            </a:br>
            <a:r>
              <a:rPr lang="en-US" dirty="0" smtClean="0">
                <a:latin typeface="Aharoni" pitchFamily="2" charset="-79"/>
                <a:cs typeface="Aharoni" pitchFamily="2" charset="-79"/>
              </a:rPr>
              <a:t>&lt;html&gt;</a:t>
            </a:r>
            <a:br>
              <a:rPr lang="en-US" dirty="0" smtClean="0">
                <a:latin typeface="Aharoni" pitchFamily="2" charset="-79"/>
                <a:cs typeface="Aharoni" pitchFamily="2" charset="-79"/>
              </a:rPr>
            </a:br>
            <a:r>
              <a:rPr lang="en-US" dirty="0" smtClean="0">
                <a:latin typeface="Aharoni" pitchFamily="2" charset="-79"/>
                <a:cs typeface="Aharoni" pitchFamily="2" charset="-79"/>
              </a:rPr>
              <a:t>&lt;head&gt;</a:t>
            </a:r>
            <a:br>
              <a:rPr lang="en-US" dirty="0" smtClean="0">
                <a:latin typeface="Aharoni" pitchFamily="2" charset="-79"/>
                <a:cs typeface="Aharoni" pitchFamily="2" charset="-79"/>
              </a:rPr>
            </a:br>
            <a:r>
              <a:rPr lang="en-US" dirty="0" smtClean="0">
                <a:latin typeface="Aharoni" pitchFamily="2" charset="-79"/>
                <a:cs typeface="Aharoni" pitchFamily="2" charset="-79"/>
              </a:rPr>
              <a:t>&lt;title&gt;Page Title&lt;/title&gt;</a:t>
            </a:r>
            <a:br>
              <a:rPr lang="en-US" dirty="0" smtClean="0">
                <a:latin typeface="Aharoni" pitchFamily="2" charset="-79"/>
                <a:cs typeface="Aharoni" pitchFamily="2" charset="-79"/>
              </a:rPr>
            </a:br>
            <a:r>
              <a:rPr lang="en-US" dirty="0" smtClean="0">
                <a:latin typeface="Aharoni" pitchFamily="2" charset="-79"/>
                <a:cs typeface="Aharoni" pitchFamily="2" charset="-79"/>
              </a:rPr>
              <a:t>&lt;/head&gt;</a:t>
            </a:r>
            <a:br>
              <a:rPr lang="en-US" dirty="0" smtClean="0">
                <a:latin typeface="Aharoni" pitchFamily="2" charset="-79"/>
                <a:cs typeface="Aharoni" pitchFamily="2" charset="-79"/>
              </a:rPr>
            </a:br>
            <a:r>
              <a:rPr lang="en-US" dirty="0" smtClean="0">
                <a:latin typeface="Aharoni" pitchFamily="2" charset="-79"/>
                <a:cs typeface="Aharoni" pitchFamily="2" charset="-79"/>
              </a:rPr>
              <a:t>&lt;body&gt;</a:t>
            </a:r>
            <a:br>
              <a:rPr lang="en-US" dirty="0" smtClean="0">
                <a:latin typeface="Aharoni" pitchFamily="2" charset="-79"/>
                <a:cs typeface="Aharoni" pitchFamily="2" charset="-79"/>
              </a:rPr>
            </a:br>
            <a:r>
              <a:rPr lang="en-US" dirty="0" smtClean="0">
                <a:latin typeface="Aharoni" pitchFamily="2" charset="-79"/>
                <a:cs typeface="Aharoni" pitchFamily="2" charset="-79"/>
              </a:rPr>
              <a:t/>
            </a:r>
            <a:br>
              <a:rPr lang="en-US" dirty="0" smtClean="0">
                <a:latin typeface="Aharoni" pitchFamily="2" charset="-79"/>
                <a:cs typeface="Aharoni" pitchFamily="2" charset="-79"/>
              </a:rPr>
            </a:br>
            <a:r>
              <a:rPr lang="en-US" dirty="0" smtClean="0">
                <a:latin typeface="Aharoni" pitchFamily="2" charset="-79"/>
                <a:cs typeface="Aharoni" pitchFamily="2" charset="-79"/>
              </a:rPr>
              <a:t>&lt;h1&gt;My First Heading&lt;/h1&gt;</a:t>
            </a:r>
            <a:br>
              <a:rPr lang="en-US" dirty="0" smtClean="0">
                <a:latin typeface="Aharoni" pitchFamily="2" charset="-79"/>
                <a:cs typeface="Aharoni" pitchFamily="2" charset="-79"/>
              </a:rPr>
            </a:br>
            <a:r>
              <a:rPr lang="en-US" dirty="0" smtClean="0">
                <a:latin typeface="Aharoni" pitchFamily="2" charset="-79"/>
                <a:cs typeface="Aharoni" pitchFamily="2" charset="-79"/>
              </a:rPr>
              <a:t>&lt;p&gt;My first paragraph.&lt;/p&gt;</a:t>
            </a:r>
            <a:br>
              <a:rPr lang="en-US" dirty="0" smtClean="0">
                <a:latin typeface="Aharoni" pitchFamily="2" charset="-79"/>
                <a:cs typeface="Aharoni" pitchFamily="2" charset="-79"/>
              </a:rPr>
            </a:br>
            <a:r>
              <a:rPr lang="en-US" dirty="0" smtClean="0">
                <a:latin typeface="Aharoni" pitchFamily="2" charset="-79"/>
                <a:cs typeface="Aharoni" pitchFamily="2" charset="-79"/>
              </a:rPr>
              <a:t/>
            </a:r>
            <a:br>
              <a:rPr lang="en-US" dirty="0" smtClean="0">
                <a:latin typeface="Aharoni" pitchFamily="2" charset="-79"/>
                <a:cs typeface="Aharoni" pitchFamily="2" charset="-79"/>
              </a:rPr>
            </a:br>
            <a:r>
              <a:rPr lang="en-US" dirty="0" smtClean="0">
                <a:latin typeface="Aharoni" pitchFamily="2" charset="-79"/>
                <a:cs typeface="Aharoni" pitchFamily="2" charset="-79"/>
              </a:rPr>
              <a:t>&lt;/body&gt;</a:t>
            </a:r>
            <a:br>
              <a:rPr lang="en-US" dirty="0" smtClean="0">
                <a:latin typeface="Aharoni" pitchFamily="2" charset="-79"/>
                <a:cs typeface="Aharoni" pitchFamily="2" charset="-79"/>
              </a:rPr>
            </a:br>
            <a:r>
              <a:rPr lang="en-US" dirty="0" smtClean="0">
                <a:latin typeface="Aharoni" pitchFamily="2" charset="-79"/>
                <a:cs typeface="Aharoni" pitchFamily="2" charset="-79"/>
              </a:rPr>
              <a:t>&lt;/html&gt; </a:t>
            </a:r>
          </a:p>
          <a:p>
            <a:endParaRPr lang="en-US" dirty="0"/>
          </a:p>
        </p:txBody>
      </p:sp>
      <p:pic>
        <p:nvPicPr>
          <p:cNvPr id="4" name="Picture 10" descr="https://upload.wikimedia.org/wikipedia/commons/thumb/6/61/HTML5_logo_and_wordmark.svg/2000px-HTML5_logo_and_wordmark.svg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7800" y="5149850"/>
            <a:ext cx="2074333" cy="1555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5812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DOCTYPE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b="1" dirty="0" smtClean="0">
                <a:solidFill>
                  <a:srgbClr val="FF0000"/>
                </a:solidFill>
              </a:rPr>
              <a:t>DOCTYPE</a:t>
            </a:r>
            <a:r>
              <a:rPr lang="en-US" dirty="0" smtClean="0"/>
              <a:t> declaration defines the document type to be HTML</a:t>
            </a:r>
          </a:p>
          <a:p>
            <a:endParaRPr lang="en-US" dirty="0"/>
          </a:p>
        </p:txBody>
      </p:sp>
      <p:pic>
        <p:nvPicPr>
          <p:cNvPr id="4" name="Picture 2" descr="https://encrypted-tbn0.gstatic.com/images?q=tbn:ANd9GcRyPUaBbdmM8Ap2lY98yN4PyuEkicb7p0sxDlb6cl4oYsTGRG-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800" y="2971801"/>
            <a:ext cx="10363200" cy="37433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0951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  <a:latin typeface="Aharoni" pitchFamily="2" charset="-79"/>
                <a:cs typeface="Aharoni" pitchFamily="2" charset="-79"/>
              </a:rPr>
              <a:t>Syntax </a:t>
            </a:r>
            <a:r>
              <a:rPr lang="en-US" b="1" dirty="0" err="1" smtClean="0">
                <a:solidFill>
                  <a:srgbClr val="FF0000"/>
                </a:solidFill>
                <a:latin typeface="Aharoni" pitchFamily="2" charset="-79"/>
                <a:cs typeface="Aharoni" pitchFamily="2" charset="-79"/>
              </a:rPr>
              <a:t>Explaination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Clr>
                <a:srgbClr val="FF0000"/>
              </a:buClr>
              <a:buFont typeface="Wingdings" pitchFamily="2" charset="2"/>
              <a:buChar char="v"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The text between </a:t>
            </a:r>
            <a:r>
              <a:rPr lang="en-US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&lt;html&gt;</a:t>
            </a:r>
            <a:r>
              <a:rPr lang="en-US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and </a:t>
            </a:r>
            <a:r>
              <a:rPr lang="en-US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&lt;/html&gt;</a:t>
            </a:r>
            <a:r>
              <a:rPr lang="en-US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describes an HTML document</a:t>
            </a:r>
          </a:p>
          <a:p>
            <a:pPr marL="342900" indent="-342900">
              <a:buClr>
                <a:srgbClr val="FF0000"/>
              </a:buClr>
              <a:buFont typeface="Wingdings" pitchFamily="2" charset="2"/>
              <a:buChar char="v"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 The text between </a:t>
            </a:r>
            <a:r>
              <a:rPr lang="en-US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&lt;head&gt;</a:t>
            </a:r>
            <a:r>
              <a:rPr lang="en-US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and </a:t>
            </a:r>
            <a:r>
              <a:rPr lang="en-US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&lt;/head&gt;</a:t>
            </a:r>
            <a:r>
              <a:rPr lang="en-US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provides information about the document </a:t>
            </a:r>
          </a:p>
          <a:p>
            <a:pPr marL="342900" indent="-342900">
              <a:buClr>
                <a:srgbClr val="FF0000"/>
              </a:buClr>
              <a:buFont typeface="Wingdings" pitchFamily="2" charset="2"/>
              <a:buChar char="v"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The text between </a:t>
            </a:r>
            <a:r>
              <a:rPr lang="en-US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&lt;title&gt;</a:t>
            </a:r>
            <a:r>
              <a:rPr lang="en-US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and </a:t>
            </a:r>
            <a:r>
              <a:rPr lang="en-US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&lt;/title&gt;</a:t>
            </a:r>
            <a:r>
              <a:rPr lang="en-US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provides a title for the document</a:t>
            </a:r>
          </a:p>
          <a:p>
            <a:endParaRPr lang="en-US" dirty="0"/>
          </a:p>
        </p:txBody>
      </p:sp>
      <p:pic>
        <p:nvPicPr>
          <p:cNvPr id="4" name="Picture 3" descr="https://encrypted-tbn3.gstatic.com/images?q=tbn:ANd9GcSHIrsAyYenzH8LhpIUiFMNKKYzkJiB2J2DoxDg6u4bsgP4wbZYrw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0400" y="3733801"/>
            <a:ext cx="6096000" cy="2642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10" descr="https://upload.wikimedia.org/wikipedia/commons/thumb/6/61/HTML5_logo_and_wordmark.svg/2000px-HTML5_logo_and_wordmark.svg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6800" y="4800600"/>
            <a:ext cx="2377017" cy="1782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2741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  <a:latin typeface="Aharoni" pitchFamily="2" charset="-79"/>
                <a:cs typeface="Aharoni" pitchFamily="2" charset="-79"/>
              </a:rPr>
              <a:t>Continued…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FF0000"/>
              </a:buClr>
              <a:buFont typeface="Wingdings" pitchFamily="2" charset="2"/>
              <a:buChar char="v"/>
            </a:pPr>
            <a:r>
              <a:rPr lang="en-US" dirty="0" smtClean="0"/>
              <a:t>The text between </a:t>
            </a:r>
            <a:r>
              <a:rPr lang="en-US" b="1" dirty="0" smtClean="0">
                <a:solidFill>
                  <a:srgbClr val="FF0000"/>
                </a:solidFill>
              </a:rPr>
              <a:t>&lt;body&gt;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smtClean="0"/>
              <a:t>and </a:t>
            </a:r>
            <a:r>
              <a:rPr lang="en-US" b="1" dirty="0" smtClean="0">
                <a:solidFill>
                  <a:srgbClr val="FF0000"/>
                </a:solidFill>
              </a:rPr>
              <a:t>&lt;/body&gt;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smtClean="0"/>
              <a:t>describes the visible page content </a:t>
            </a:r>
          </a:p>
          <a:p>
            <a:pPr>
              <a:buClr>
                <a:srgbClr val="FF0000"/>
              </a:buClr>
              <a:buFont typeface="Wingdings" pitchFamily="2" charset="2"/>
              <a:buChar char="v"/>
            </a:pPr>
            <a:r>
              <a:rPr lang="en-US" dirty="0" smtClean="0"/>
              <a:t>The text between </a:t>
            </a:r>
            <a:r>
              <a:rPr lang="en-US" b="1" dirty="0" smtClean="0">
                <a:solidFill>
                  <a:srgbClr val="FF0000"/>
                </a:solidFill>
              </a:rPr>
              <a:t>&lt;h1&gt;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smtClean="0"/>
              <a:t>and </a:t>
            </a:r>
            <a:r>
              <a:rPr lang="en-US" b="1" dirty="0" smtClean="0">
                <a:solidFill>
                  <a:srgbClr val="FF0000"/>
                </a:solidFill>
              </a:rPr>
              <a:t>&lt;/h1&gt;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smtClean="0"/>
              <a:t>describes a heading.</a:t>
            </a:r>
          </a:p>
          <a:p>
            <a:pPr>
              <a:buClr>
                <a:srgbClr val="FF0000"/>
              </a:buClr>
              <a:buFont typeface="Wingdings" pitchFamily="2" charset="2"/>
              <a:buChar char="v"/>
            </a:pPr>
            <a:r>
              <a:rPr lang="en-US" dirty="0" smtClean="0"/>
              <a:t> The text between </a:t>
            </a:r>
            <a:r>
              <a:rPr lang="en-US" b="1" dirty="0" smtClean="0">
                <a:solidFill>
                  <a:srgbClr val="FF0000"/>
                </a:solidFill>
              </a:rPr>
              <a:t>&lt;p&gt;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smtClean="0"/>
              <a:t>and </a:t>
            </a:r>
            <a:r>
              <a:rPr lang="en-US" b="1" dirty="0" smtClean="0">
                <a:solidFill>
                  <a:srgbClr val="FF0000"/>
                </a:solidFill>
              </a:rPr>
              <a:t>&lt;/p&gt;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smtClean="0"/>
              <a:t>describes a paragraph</a:t>
            </a:r>
          </a:p>
          <a:p>
            <a:endParaRPr lang="en-US" dirty="0"/>
          </a:p>
        </p:txBody>
      </p:sp>
      <p:pic>
        <p:nvPicPr>
          <p:cNvPr id="4" name="Picture 2" descr="https://encrypted-tbn3.gstatic.com/images?q=tbn:ANd9GcSR3hy1tqE5UFB9XPsYpY19QUJylVJE1SCeqariCJDiGg9DA7gv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4038600"/>
            <a:ext cx="8521700" cy="251460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6978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  <a:latin typeface="Aharoni" pitchFamily="2" charset="-79"/>
                <a:cs typeface="Aharoni" pitchFamily="2" charset="-79"/>
              </a:rPr>
              <a:t>Tags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&lt;</a:t>
            </a:r>
            <a:r>
              <a:rPr lang="en-US" dirty="0" err="1" smtClean="0">
                <a:solidFill>
                  <a:srgbClr val="FF0000"/>
                </a:solidFill>
              </a:rPr>
              <a:t>tagname</a:t>
            </a:r>
            <a:r>
              <a:rPr lang="en-US" dirty="0" smtClean="0">
                <a:solidFill>
                  <a:srgbClr val="FF0000"/>
                </a:solidFill>
              </a:rPr>
              <a:t>&gt;</a:t>
            </a:r>
            <a:r>
              <a:rPr lang="en-US" dirty="0" smtClean="0"/>
              <a:t>content</a:t>
            </a:r>
            <a:r>
              <a:rPr lang="en-US" dirty="0" smtClean="0">
                <a:solidFill>
                  <a:srgbClr val="FF0000"/>
                </a:solidFill>
              </a:rPr>
              <a:t>&lt;/</a:t>
            </a:r>
            <a:r>
              <a:rPr lang="en-US" dirty="0" err="1" smtClean="0">
                <a:solidFill>
                  <a:srgbClr val="FF0000"/>
                </a:solidFill>
              </a:rPr>
              <a:t>tagname</a:t>
            </a:r>
            <a:r>
              <a:rPr lang="en-US" dirty="0" smtClean="0">
                <a:solidFill>
                  <a:srgbClr val="FF0000"/>
                </a:solidFill>
              </a:rPr>
              <a:t>&gt;</a:t>
            </a:r>
            <a:r>
              <a:rPr lang="en-US" dirty="0" smtClean="0"/>
              <a:t> </a:t>
            </a:r>
          </a:p>
          <a:p>
            <a:pPr>
              <a:buClr>
                <a:srgbClr val="FF0000"/>
              </a:buClr>
              <a:buSzPct val="100000"/>
              <a:buFont typeface="Wingdings" pitchFamily="2" charset="2"/>
              <a:buChar char="v"/>
            </a:pPr>
            <a:r>
              <a:rPr lang="en-US" dirty="0" smtClean="0"/>
              <a:t>HTML tags normally come </a:t>
            </a:r>
            <a:r>
              <a:rPr lang="en-US" b="1" dirty="0" smtClean="0"/>
              <a:t>in pairs</a:t>
            </a:r>
            <a:r>
              <a:rPr lang="en-US" dirty="0" smtClean="0"/>
              <a:t> like </a:t>
            </a:r>
            <a:r>
              <a:rPr lang="en-US" b="1" dirty="0" smtClean="0">
                <a:solidFill>
                  <a:srgbClr val="FF0000"/>
                </a:solidFill>
              </a:rPr>
              <a:t>&lt;p&gt; </a:t>
            </a:r>
            <a:r>
              <a:rPr lang="en-US" dirty="0" smtClean="0"/>
              <a:t>and </a:t>
            </a:r>
            <a:r>
              <a:rPr lang="en-US" b="1" dirty="0" smtClean="0">
                <a:solidFill>
                  <a:srgbClr val="FF0000"/>
                </a:solidFill>
              </a:rPr>
              <a:t>&lt;/p&gt;</a:t>
            </a:r>
          </a:p>
          <a:p>
            <a:pPr>
              <a:buClr>
                <a:srgbClr val="FF0000"/>
              </a:buClr>
              <a:buSzPct val="100000"/>
              <a:buFont typeface="Wingdings" pitchFamily="2" charset="2"/>
              <a:buChar char="v"/>
            </a:pPr>
            <a:r>
              <a:rPr lang="en-US" dirty="0" smtClean="0"/>
              <a:t>The first tag in a pair is the </a:t>
            </a:r>
            <a:r>
              <a:rPr lang="en-US" b="1" dirty="0" smtClean="0"/>
              <a:t>start tag,</a:t>
            </a:r>
            <a:r>
              <a:rPr lang="en-US" dirty="0" smtClean="0"/>
              <a:t> the second tag is the </a:t>
            </a:r>
            <a:r>
              <a:rPr lang="en-US" b="1" dirty="0" smtClean="0"/>
              <a:t>end tag</a:t>
            </a:r>
            <a:endParaRPr lang="en-US" dirty="0" smtClean="0"/>
          </a:p>
          <a:p>
            <a:pPr>
              <a:buClr>
                <a:srgbClr val="FF0000"/>
              </a:buClr>
              <a:buSzPct val="100000"/>
              <a:buFont typeface="Wingdings" pitchFamily="2" charset="2"/>
              <a:buChar char="v"/>
            </a:pPr>
            <a:r>
              <a:rPr lang="en-US" dirty="0" smtClean="0"/>
              <a:t>The end tag is written like the start tag, but with a</a:t>
            </a:r>
            <a:r>
              <a:rPr lang="en-US" b="1" dirty="0" smtClean="0">
                <a:solidFill>
                  <a:srgbClr val="FF0000"/>
                </a:solidFill>
              </a:rPr>
              <a:t> / </a:t>
            </a:r>
            <a:r>
              <a:rPr lang="en-US" b="1" dirty="0" smtClean="0"/>
              <a:t>slash</a:t>
            </a:r>
            <a:r>
              <a:rPr lang="en-US" dirty="0" smtClean="0"/>
              <a:t> before the tag name </a:t>
            </a:r>
          </a:p>
          <a:p>
            <a:endParaRPr lang="en-US" dirty="0"/>
          </a:p>
        </p:txBody>
      </p:sp>
      <p:pic>
        <p:nvPicPr>
          <p:cNvPr id="6" name="Picture 2" descr="View in Browser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64" b="42282"/>
          <a:stretch/>
        </p:blipFill>
        <p:spPr bwMode="auto">
          <a:xfrm>
            <a:off x="852488" y="4319375"/>
            <a:ext cx="10501312" cy="23747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10" descr="https://upload.wikimedia.org/wikipedia/commons/thumb/6/61/HTML5_logo_and_wordmark.svg/2000px-HTML5_logo_and_wordmark.svg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7239" y="4724400"/>
            <a:ext cx="2377017" cy="1782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640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FF0000"/>
                </a:solidFill>
                <a:latin typeface="Aharoni" pitchFamily="2" charset="-79"/>
                <a:cs typeface="Aharoni" pitchFamily="2" charset="-79"/>
              </a:rPr>
              <a:t>Write HTML Using Notepad </a:t>
            </a:r>
            <a:r>
              <a:rPr lang="en-US" b="1" dirty="0" err="1" smtClean="0">
                <a:solidFill>
                  <a:srgbClr val="FF0000"/>
                </a:solidFill>
                <a:latin typeface="Aharoni" pitchFamily="2" charset="-79"/>
                <a:cs typeface="Aharoni" pitchFamily="2" charset="-79"/>
              </a:rPr>
              <a:t>Notepad</a:t>
            </a:r>
            <a:r>
              <a:rPr lang="en-US" b="1" dirty="0" smtClean="0">
                <a:solidFill>
                  <a:srgbClr val="FF0000"/>
                </a:solidFill>
                <a:latin typeface="Aharoni" pitchFamily="2" charset="-79"/>
                <a:cs typeface="Aharoni" pitchFamily="2" charset="-79"/>
              </a:rPr>
              <a:t>++ or </a:t>
            </a:r>
            <a:r>
              <a:rPr lang="en-US" b="1" dirty="0" err="1" smtClean="0">
                <a:solidFill>
                  <a:srgbClr val="FF0000"/>
                </a:solidFill>
                <a:latin typeface="Aharoni" pitchFamily="2" charset="-79"/>
                <a:cs typeface="Aharoni" pitchFamily="2" charset="-79"/>
              </a:rPr>
              <a:t>TextEdit</a:t>
            </a:r>
            <a:r>
              <a:rPr lang="en-US" b="1" dirty="0" smtClean="0"/>
              <a:t/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v"/>
            </a:pPr>
            <a:r>
              <a:rPr lang="en-US" b="1" dirty="0" smtClean="0">
                <a:solidFill>
                  <a:srgbClr val="FF0000"/>
                </a:solidFill>
              </a:rPr>
              <a:t>Step 1: </a:t>
            </a:r>
            <a:r>
              <a:rPr lang="en-US" b="1" dirty="0" smtClean="0"/>
              <a:t>Open Notepad</a:t>
            </a:r>
          </a:p>
          <a:p>
            <a:pPr>
              <a:buFont typeface="Wingdings" pitchFamily="2" charset="2"/>
              <a:buChar char="v"/>
            </a:pPr>
            <a:r>
              <a:rPr lang="en-US" b="1" dirty="0" smtClean="0">
                <a:solidFill>
                  <a:srgbClr val="FF0000"/>
                </a:solidFill>
              </a:rPr>
              <a:t>Step 2: </a:t>
            </a:r>
            <a:r>
              <a:rPr lang="en-US" b="1" dirty="0" smtClean="0"/>
              <a:t>Write Some HTML</a:t>
            </a:r>
          </a:p>
          <a:p>
            <a:pPr>
              <a:buFont typeface="Wingdings" pitchFamily="2" charset="2"/>
              <a:buChar char="v"/>
            </a:pPr>
            <a:r>
              <a:rPr lang="en-US" b="1" dirty="0" smtClean="0">
                <a:solidFill>
                  <a:srgbClr val="FF0000"/>
                </a:solidFill>
              </a:rPr>
              <a:t>Step 3: </a:t>
            </a:r>
            <a:r>
              <a:rPr lang="en-US" b="1" dirty="0" smtClean="0"/>
              <a:t>Save the HTML Page</a:t>
            </a:r>
          </a:p>
          <a:p>
            <a:endParaRPr lang="en-US" dirty="0"/>
          </a:p>
        </p:txBody>
      </p:sp>
      <p:pic>
        <p:nvPicPr>
          <p:cNvPr id="4" name="Picture 2" descr="http://orig07.deviantart.net/6556/f/2010/193/8/f/i_know_html_by_audiofeeline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801" y="3352800"/>
            <a:ext cx="7454900" cy="3143536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10" descr="https://upload.wikimedia.org/wikipedia/commons/thumb/6/61/HTML5_logo_and_wordmark.svg/2000px-HTML5_logo_and_wordmark.svg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1600" y="4572000"/>
            <a:ext cx="2377017" cy="1782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9495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  <a:latin typeface="Aharoni" pitchFamily="2" charset="-79"/>
                <a:cs typeface="Aharoni" pitchFamily="2" charset="-79"/>
              </a:rPr>
              <a:t>HTML Headings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HTML headings are defined with the </a:t>
            </a:r>
            <a:r>
              <a:rPr lang="en-US" b="1" dirty="0" smtClean="0">
                <a:solidFill>
                  <a:srgbClr val="FF0000"/>
                </a:solidFill>
              </a:rPr>
              <a:t>&lt;h1&gt;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smtClean="0"/>
              <a:t>to </a:t>
            </a:r>
            <a:r>
              <a:rPr lang="en-US" b="1" dirty="0" smtClean="0">
                <a:solidFill>
                  <a:srgbClr val="FF0000"/>
                </a:solidFill>
              </a:rPr>
              <a:t>&lt;h6&gt;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smtClean="0"/>
              <a:t>tags</a:t>
            </a:r>
            <a:r>
              <a:rPr lang="en-US" dirty="0" smtClean="0">
                <a:solidFill>
                  <a:srgbClr val="FF0000"/>
                </a:solidFill>
              </a:rPr>
              <a:t>:</a:t>
            </a:r>
          </a:p>
          <a:p>
            <a:pPr>
              <a:buFont typeface="Wingdings" pitchFamily="2" charset="2"/>
              <a:buChar char="v"/>
            </a:pPr>
            <a:endParaRPr lang="en-US" dirty="0" smtClean="0"/>
          </a:p>
          <a:p>
            <a:pPr>
              <a:buClr>
                <a:srgbClr val="FF0000"/>
              </a:buClr>
              <a:buFont typeface="Wingdings" pitchFamily="2" charset="2"/>
              <a:buChar char="v"/>
            </a:pPr>
            <a:r>
              <a:rPr lang="en-US" dirty="0" smtClean="0"/>
              <a:t>&lt;h1&gt;This is heading 1&lt;/h1&gt;</a:t>
            </a:r>
          </a:p>
          <a:p>
            <a:pPr>
              <a:buClr>
                <a:srgbClr val="FF0000"/>
              </a:buClr>
              <a:buFont typeface="Wingdings" pitchFamily="2" charset="2"/>
              <a:buChar char="v"/>
            </a:pPr>
            <a:r>
              <a:rPr lang="en-US" dirty="0" smtClean="0"/>
              <a:t>&lt;h2&gt;This is heading 2&lt;/h2&gt;</a:t>
            </a:r>
          </a:p>
          <a:p>
            <a:pPr>
              <a:buClr>
                <a:srgbClr val="FF0000"/>
              </a:buClr>
              <a:buFont typeface="Wingdings" pitchFamily="2" charset="2"/>
              <a:buChar char="v"/>
            </a:pPr>
            <a:r>
              <a:rPr lang="en-US" dirty="0" smtClean="0"/>
              <a:t>&lt;h3&gt;This is heading 3&lt;/h3&gt;</a:t>
            </a:r>
          </a:p>
          <a:p>
            <a:pPr>
              <a:buClr>
                <a:srgbClr val="FF0000"/>
              </a:buClr>
              <a:buFont typeface="Wingdings" pitchFamily="2" charset="2"/>
              <a:buChar char="v"/>
            </a:pPr>
            <a:r>
              <a:rPr lang="en-US" dirty="0" smtClean="0"/>
              <a:t>&lt;h4&gt;This is heading 4&lt;/h4&gt;</a:t>
            </a:r>
          </a:p>
          <a:p>
            <a:pPr>
              <a:buClr>
                <a:srgbClr val="FF0000"/>
              </a:buClr>
              <a:buFont typeface="Wingdings" pitchFamily="2" charset="2"/>
              <a:buChar char="v"/>
            </a:pPr>
            <a:r>
              <a:rPr lang="en-US" dirty="0" smtClean="0"/>
              <a:t>&lt;h5&gt;This is heading 5&lt;/h5&gt;</a:t>
            </a:r>
          </a:p>
          <a:p>
            <a:pPr>
              <a:buClr>
                <a:srgbClr val="FF0000"/>
              </a:buClr>
              <a:buFont typeface="Wingdings" pitchFamily="2" charset="2"/>
              <a:buChar char="v"/>
            </a:pPr>
            <a:r>
              <a:rPr lang="en-US" dirty="0" smtClean="0"/>
              <a:t>&lt;h6&gt;This is heading 6&lt;/h6&gt;</a:t>
            </a:r>
          </a:p>
          <a:p>
            <a:endParaRPr lang="en-US" dirty="0"/>
          </a:p>
        </p:txBody>
      </p:sp>
      <p:pic>
        <p:nvPicPr>
          <p:cNvPr id="4" name="Picture 10" descr="https://upload.wikimedia.org/wikipedia/commons/thumb/6/61/HTML5_logo_and_wordmark.svg/2000px-HTML5_logo_and_wordmark.svg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9200" y="4953000"/>
            <a:ext cx="2377017" cy="1782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8431" y="2318141"/>
            <a:ext cx="2863186" cy="38588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19279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  <a:latin typeface="Aharoni" pitchFamily="2" charset="-79"/>
                <a:cs typeface="Aharoni" pitchFamily="2" charset="-79"/>
              </a:rPr>
              <a:t>HTML Paragraphs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HTML paragraphs are defined with the </a:t>
            </a:r>
            <a:r>
              <a:rPr lang="en-US" b="1" dirty="0" smtClean="0">
                <a:solidFill>
                  <a:srgbClr val="FF0000"/>
                </a:solidFill>
              </a:rPr>
              <a:t>&lt;p&gt;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smtClean="0"/>
              <a:t>tag:</a:t>
            </a:r>
          </a:p>
          <a:p>
            <a:pPr marL="0" indent="0">
              <a:buNone/>
            </a:pPr>
            <a:r>
              <a:rPr lang="en-US" b="1" dirty="0" smtClean="0">
                <a:solidFill>
                  <a:srgbClr val="FF0000"/>
                </a:solidFill>
              </a:rPr>
              <a:t>Example:</a:t>
            </a:r>
          </a:p>
          <a:p>
            <a:pPr marL="0" indent="0">
              <a:buNone/>
            </a:pPr>
            <a:r>
              <a:rPr lang="en-US" dirty="0" smtClean="0">
                <a:latin typeface="Aharoni" pitchFamily="2" charset="-79"/>
                <a:cs typeface="Aharoni" pitchFamily="2" charset="-79"/>
              </a:rPr>
              <a:t>    &lt;p&gt;This is a paragraph.&lt;/p&gt;</a:t>
            </a:r>
            <a:br>
              <a:rPr lang="en-US" dirty="0" smtClean="0">
                <a:latin typeface="Aharoni" pitchFamily="2" charset="-79"/>
                <a:cs typeface="Aharoni" pitchFamily="2" charset="-79"/>
              </a:rPr>
            </a:br>
            <a:r>
              <a:rPr lang="en-US" dirty="0" smtClean="0">
                <a:latin typeface="Aharoni" pitchFamily="2" charset="-79"/>
                <a:cs typeface="Aharoni" pitchFamily="2" charset="-79"/>
              </a:rPr>
              <a:t>    &lt;p&gt;This is another paragraph.&lt;/p&gt; </a:t>
            </a:r>
          </a:p>
          <a:p>
            <a:pPr marL="0" indent="0">
              <a:buNone/>
            </a:pPr>
            <a:r>
              <a:rPr lang="en-US" b="1" dirty="0" smtClean="0">
                <a:solidFill>
                  <a:srgbClr val="FF0000"/>
                </a:solidFill>
                <a:latin typeface="Aharoni" pitchFamily="2" charset="-79"/>
                <a:cs typeface="Aharoni" pitchFamily="2" charset="-79"/>
              </a:rPr>
              <a:t>Output:</a:t>
            </a:r>
          </a:p>
          <a:p>
            <a:pPr marL="0" indent="0">
              <a:buNone/>
            </a:pPr>
            <a:r>
              <a:rPr lang="en-US" dirty="0" smtClean="0"/>
              <a:t>This is a paragraph.</a:t>
            </a:r>
          </a:p>
          <a:p>
            <a:pPr marL="0" indent="0">
              <a:buNone/>
            </a:pPr>
            <a:r>
              <a:rPr lang="en-US" dirty="0" smtClean="0"/>
              <a:t>This is a paragraph.</a:t>
            </a:r>
          </a:p>
          <a:p>
            <a:endParaRPr lang="en-US" dirty="0"/>
          </a:p>
        </p:txBody>
      </p:sp>
      <p:pic>
        <p:nvPicPr>
          <p:cNvPr id="4" name="Picture 10" descr="https://upload.wikimedia.org/wikipedia/commons/thumb/6/61/HTML5_logo_and_wordmark.svg/2000px-HTML5_logo_and_wordmark.svg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5748" y="5075238"/>
            <a:ext cx="2377017" cy="1782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9081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  <a:latin typeface="Aharoni" pitchFamily="2" charset="-79"/>
                <a:cs typeface="Aharoni" pitchFamily="2" charset="-79"/>
              </a:rPr>
              <a:t>HTML Links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HTML links are defined with the </a:t>
            </a:r>
            <a:r>
              <a:rPr lang="en-US" b="1" dirty="0" smtClean="0">
                <a:solidFill>
                  <a:srgbClr val="FF0000"/>
                </a:solidFill>
              </a:rPr>
              <a:t>&lt;a&gt;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smtClean="0"/>
              <a:t>tag:</a:t>
            </a:r>
          </a:p>
          <a:p>
            <a:r>
              <a:rPr lang="en-US" b="1" dirty="0" smtClean="0"/>
              <a:t>Example</a:t>
            </a:r>
          </a:p>
          <a:p>
            <a:r>
              <a:rPr lang="en-US" dirty="0" smtClean="0"/>
              <a:t>&lt;a </a:t>
            </a:r>
            <a:r>
              <a:rPr lang="en-US" dirty="0" err="1" smtClean="0"/>
              <a:t>href</a:t>
            </a:r>
            <a:r>
              <a:rPr lang="en-US" dirty="0" smtClean="0"/>
              <a:t>="http://www.w3schools.com"&gt;This is a link&lt;/a&gt; </a:t>
            </a:r>
          </a:p>
          <a:p>
            <a:r>
              <a:rPr lang="en-US" dirty="0" smtClean="0"/>
              <a:t>Output</a:t>
            </a:r>
          </a:p>
          <a:p>
            <a:r>
              <a:rPr lang="en-US" dirty="0" smtClean="0">
                <a:hlinkClick r:id="rId2"/>
              </a:rPr>
              <a:t>This is a link</a:t>
            </a:r>
            <a:endParaRPr lang="en-US" dirty="0" smtClean="0"/>
          </a:p>
          <a:p>
            <a:endParaRPr lang="en-US" dirty="0"/>
          </a:p>
        </p:txBody>
      </p:sp>
      <p:pic>
        <p:nvPicPr>
          <p:cNvPr id="4" name="Picture 10" descr="https://upload.wikimedia.org/wikipedia/commons/thumb/6/61/HTML5_logo_and_wordmark.svg/2000px-HTML5_logo_and_wordmark.svg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5748" y="5075238"/>
            <a:ext cx="2377017" cy="1782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0608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  <a:latin typeface="Aharoni" pitchFamily="2" charset="-79"/>
                <a:cs typeface="Aharoni" pitchFamily="2" charset="-79"/>
              </a:rPr>
              <a:t>HTML Images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HTML images are defined with the </a:t>
            </a:r>
            <a:r>
              <a:rPr lang="en-US" dirty="0" smtClean="0">
                <a:solidFill>
                  <a:srgbClr val="FF0000"/>
                </a:solidFill>
              </a:rPr>
              <a:t>&lt;</a:t>
            </a:r>
            <a:r>
              <a:rPr lang="en-US" dirty="0" err="1" smtClean="0">
                <a:solidFill>
                  <a:srgbClr val="FF0000"/>
                </a:solidFill>
              </a:rPr>
              <a:t>img</a:t>
            </a:r>
            <a:r>
              <a:rPr lang="en-US" dirty="0" smtClean="0">
                <a:solidFill>
                  <a:srgbClr val="FF0000"/>
                </a:solidFill>
              </a:rPr>
              <a:t>&gt; </a:t>
            </a:r>
            <a:r>
              <a:rPr lang="en-US" dirty="0" smtClean="0"/>
              <a:t>tag.</a:t>
            </a:r>
          </a:p>
          <a:p>
            <a:r>
              <a:rPr lang="en-US" dirty="0" smtClean="0"/>
              <a:t>The source file </a:t>
            </a:r>
            <a:r>
              <a:rPr lang="en-US" b="1" dirty="0" smtClean="0">
                <a:solidFill>
                  <a:srgbClr val="FF0000"/>
                </a:solidFill>
              </a:rPr>
              <a:t>(</a:t>
            </a:r>
            <a:r>
              <a:rPr lang="en-US" b="1" dirty="0" err="1" smtClean="0">
                <a:solidFill>
                  <a:srgbClr val="FF0000"/>
                </a:solidFill>
              </a:rPr>
              <a:t>src</a:t>
            </a:r>
            <a:r>
              <a:rPr lang="en-US" b="1" dirty="0" smtClean="0">
                <a:solidFill>
                  <a:srgbClr val="FF0000"/>
                </a:solidFill>
              </a:rPr>
              <a:t>), </a:t>
            </a:r>
            <a:r>
              <a:rPr lang="en-US" dirty="0" smtClean="0"/>
              <a:t>alternative text </a:t>
            </a:r>
            <a:r>
              <a:rPr lang="en-US" b="1" dirty="0" smtClean="0">
                <a:solidFill>
                  <a:srgbClr val="FF0000"/>
                </a:solidFill>
              </a:rPr>
              <a:t>(alt), </a:t>
            </a:r>
            <a:r>
              <a:rPr lang="en-US" dirty="0" smtClean="0"/>
              <a:t>and size (</a:t>
            </a:r>
            <a:r>
              <a:rPr lang="en-US" b="1" dirty="0" smtClean="0"/>
              <a:t>width</a:t>
            </a:r>
            <a:r>
              <a:rPr lang="en-US" dirty="0" smtClean="0"/>
              <a:t> and </a:t>
            </a:r>
            <a:r>
              <a:rPr lang="en-US" b="1" dirty="0" smtClean="0"/>
              <a:t>height</a:t>
            </a:r>
            <a:r>
              <a:rPr lang="en-US" dirty="0" smtClean="0"/>
              <a:t>) are provided as </a:t>
            </a:r>
            <a:r>
              <a:rPr lang="en-US" b="1" dirty="0" smtClean="0"/>
              <a:t>attributes</a:t>
            </a:r>
            <a:r>
              <a:rPr lang="en-US" dirty="0" smtClean="0"/>
              <a:t>:</a:t>
            </a:r>
          </a:p>
          <a:p>
            <a:pPr marL="0" indent="0">
              <a:buNone/>
            </a:pPr>
            <a:r>
              <a:rPr lang="en-US" b="1" dirty="0" smtClean="0">
                <a:solidFill>
                  <a:srgbClr val="FF0000"/>
                </a:solidFill>
              </a:rPr>
              <a:t>Example</a:t>
            </a:r>
          </a:p>
          <a:p>
            <a:pPr marL="0" indent="0">
              <a:buNone/>
            </a:pPr>
            <a:r>
              <a:rPr lang="en-US" dirty="0" smtClean="0"/>
              <a:t>     &lt;</a:t>
            </a:r>
            <a:r>
              <a:rPr lang="en-US" dirty="0" err="1" smtClean="0"/>
              <a:t>img</a:t>
            </a:r>
            <a:r>
              <a:rPr lang="en-US" dirty="0" smtClean="0"/>
              <a:t> </a:t>
            </a:r>
            <a:r>
              <a:rPr lang="en-US" dirty="0" err="1" smtClean="0"/>
              <a:t>src</a:t>
            </a:r>
            <a:r>
              <a:rPr lang="en-US" dirty="0" smtClean="0"/>
              <a:t>="w3schools.jpg" alt="W3Schools.com"           width="104" height="142"&gt; </a:t>
            </a:r>
          </a:p>
          <a:p>
            <a:endParaRPr lang="en-US" b="1" dirty="0" smtClean="0"/>
          </a:p>
          <a:p>
            <a:pPr marL="0" indent="0">
              <a:buNone/>
            </a:pPr>
            <a:r>
              <a:rPr lang="en-US" b="1" dirty="0" smtClean="0">
                <a:solidFill>
                  <a:srgbClr val="FF0000"/>
                </a:solidFill>
              </a:rPr>
              <a:t>Output:</a:t>
            </a:r>
          </a:p>
          <a:p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6000" y="5383213"/>
            <a:ext cx="1320800" cy="135255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10" descr="https://upload.wikimedia.org/wikipedia/commons/thumb/6/61/HTML5_logo_and_wordmark.svg/2000px-HTML5_logo_and_wordmark.svg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5746" y="4953001"/>
            <a:ext cx="2377017" cy="1782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8270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  <a:latin typeface="Aharoni" pitchFamily="2" charset="-79"/>
                <a:cs typeface="Aharoni" pitchFamily="2" charset="-79"/>
              </a:rPr>
              <a:t>The </a:t>
            </a:r>
            <a:r>
              <a:rPr lang="en-US" b="1" dirty="0" err="1" smtClean="0">
                <a:solidFill>
                  <a:srgbClr val="FF0000"/>
                </a:solidFill>
                <a:latin typeface="Aharoni" pitchFamily="2" charset="-79"/>
                <a:cs typeface="Aharoni" pitchFamily="2" charset="-79"/>
              </a:rPr>
              <a:t>lang</a:t>
            </a:r>
            <a:r>
              <a:rPr lang="en-US" b="1" dirty="0" smtClean="0">
                <a:solidFill>
                  <a:srgbClr val="FF0000"/>
                </a:solidFill>
                <a:latin typeface="Aharoni" pitchFamily="2" charset="-79"/>
                <a:cs typeface="Aharoni" pitchFamily="2" charset="-79"/>
              </a:rPr>
              <a:t> Attribute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he document language can be declared in the </a:t>
            </a:r>
            <a:r>
              <a:rPr lang="en-US" b="1" dirty="0" smtClean="0">
                <a:solidFill>
                  <a:srgbClr val="FF0000"/>
                </a:solidFill>
              </a:rPr>
              <a:t>&lt;html&gt;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smtClean="0"/>
              <a:t>tag.</a:t>
            </a:r>
          </a:p>
          <a:p>
            <a:r>
              <a:rPr lang="en-US" dirty="0" smtClean="0"/>
              <a:t>The language is declared in the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lang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smtClean="0"/>
              <a:t>attribute.</a:t>
            </a:r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 smtClean="0">
                <a:solidFill>
                  <a:srgbClr val="0070C0"/>
                </a:solidFill>
              </a:rPr>
              <a:t>&lt;html </a:t>
            </a:r>
            <a:r>
              <a:rPr lang="en-US" dirty="0" err="1" smtClean="0">
                <a:solidFill>
                  <a:srgbClr val="0070C0"/>
                </a:solidFill>
              </a:rPr>
              <a:t>lang</a:t>
            </a:r>
            <a:r>
              <a:rPr lang="en-US" dirty="0" smtClean="0">
                <a:solidFill>
                  <a:srgbClr val="0070C0"/>
                </a:solidFill>
              </a:rPr>
              <a:t>="</a:t>
            </a:r>
            <a:r>
              <a:rPr lang="en-US" dirty="0" err="1" smtClean="0">
                <a:solidFill>
                  <a:srgbClr val="0070C0"/>
                </a:solidFill>
              </a:rPr>
              <a:t>en</a:t>
            </a:r>
            <a:r>
              <a:rPr lang="en-US" dirty="0" smtClean="0">
                <a:solidFill>
                  <a:srgbClr val="0070C0"/>
                </a:solidFill>
              </a:rPr>
              <a:t>-US"&gt;</a:t>
            </a:r>
          </a:p>
          <a:p>
            <a:endParaRPr lang="en-US" dirty="0"/>
          </a:p>
        </p:txBody>
      </p:sp>
      <p:pic>
        <p:nvPicPr>
          <p:cNvPr id="4" name="Picture 10" descr="https://upload.wikimedia.org/wikipedia/commons/thumb/6/61/HTML5_logo_and_wordmark.svg/2000px-HTML5_logo_and_wordmark.svg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5748" y="5075238"/>
            <a:ext cx="2377017" cy="1782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5674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  <a:latin typeface="Aharoni" pitchFamily="2" charset="-79"/>
                <a:cs typeface="Aharoni" pitchFamily="2" charset="-79"/>
              </a:rPr>
              <a:t>The title Attribute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HTML paragraphs are defined with the </a:t>
            </a:r>
            <a:r>
              <a:rPr lang="en-US" b="1" dirty="0" smtClean="0">
                <a:solidFill>
                  <a:srgbClr val="FF0000"/>
                </a:solidFill>
              </a:rPr>
              <a:t>&lt;p&gt;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smtClean="0"/>
              <a:t>tag.</a:t>
            </a:r>
          </a:p>
          <a:p>
            <a:r>
              <a:rPr lang="en-US" dirty="0" smtClean="0"/>
              <a:t>In this example, the </a:t>
            </a:r>
            <a:r>
              <a:rPr lang="en-US" b="1" dirty="0" smtClean="0">
                <a:solidFill>
                  <a:srgbClr val="FF0000"/>
                </a:solidFill>
              </a:rPr>
              <a:t>&lt;p&gt;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smtClean="0"/>
              <a:t>element has a </a:t>
            </a:r>
            <a:r>
              <a:rPr lang="en-US" b="1" dirty="0" smtClean="0">
                <a:solidFill>
                  <a:srgbClr val="FF0000"/>
                </a:solidFill>
              </a:rPr>
              <a:t>title</a:t>
            </a:r>
            <a:r>
              <a:rPr lang="en-US" dirty="0" smtClean="0"/>
              <a:t> attribute. The value of the attribute is "</a:t>
            </a:r>
            <a:r>
              <a:rPr lang="en-US" b="1" dirty="0" smtClean="0">
                <a:solidFill>
                  <a:srgbClr val="FF0000"/>
                </a:solidFill>
              </a:rPr>
              <a:t>About W3Schools</a:t>
            </a:r>
            <a:r>
              <a:rPr lang="en-US" dirty="0" smtClean="0"/>
              <a:t>":</a:t>
            </a:r>
          </a:p>
          <a:p>
            <a:pPr marL="0" indent="0">
              <a:buNone/>
            </a:pPr>
            <a:r>
              <a:rPr lang="en-US" b="1" dirty="0" smtClean="0">
                <a:solidFill>
                  <a:srgbClr val="FF0000"/>
                </a:solidFill>
              </a:rPr>
              <a:t>Example:</a:t>
            </a:r>
          </a:p>
          <a:p>
            <a:pPr marL="0" indent="0">
              <a:buNone/>
            </a:pPr>
            <a:r>
              <a:rPr lang="en-US" dirty="0" smtClean="0"/>
              <a:t>   &lt;p title="About W3Schools"&gt;</a:t>
            </a:r>
          </a:p>
          <a:p>
            <a:pPr marL="0" indent="0">
              <a:buNone/>
            </a:pPr>
            <a:r>
              <a:rPr lang="en-US" b="1" dirty="0" smtClean="0">
                <a:solidFill>
                  <a:srgbClr val="FF0000"/>
                </a:solidFill>
              </a:rPr>
              <a:t>Output:</a:t>
            </a:r>
          </a:p>
          <a:p>
            <a:pPr marL="0" indent="0">
              <a:buNone/>
            </a:pPr>
            <a:r>
              <a:rPr lang="en-US" b="1" dirty="0" smtClean="0"/>
              <a:t>     About W3Schools</a:t>
            </a:r>
            <a:endParaRPr lang="en-US" b="1" dirty="0"/>
          </a:p>
        </p:txBody>
      </p:sp>
      <p:pic>
        <p:nvPicPr>
          <p:cNvPr id="4" name="Picture 10" descr="https://upload.wikimedia.org/wikipedia/commons/thumb/6/61/HTML5_logo_and_wordmark.svg/2000px-HTML5_logo_and_wordmark.svg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5748" y="5075238"/>
            <a:ext cx="2377017" cy="1782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582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  <a:latin typeface="Aharoni" pitchFamily="2" charset="-79"/>
                <a:cs typeface="Aharoni" pitchFamily="2" charset="-79"/>
              </a:rPr>
              <a:t>HTML Horizontal Rules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b="1" dirty="0" smtClean="0">
                <a:solidFill>
                  <a:srgbClr val="FF0000"/>
                </a:solidFill>
              </a:rPr>
              <a:t>&lt;</a:t>
            </a:r>
            <a:r>
              <a:rPr lang="en-US" b="1" dirty="0" err="1" smtClean="0">
                <a:solidFill>
                  <a:srgbClr val="FF0000"/>
                </a:solidFill>
              </a:rPr>
              <a:t>hr</a:t>
            </a:r>
            <a:r>
              <a:rPr lang="en-US" b="1" dirty="0" smtClean="0">
                <a:solidFill>
                  <a:srgbClr val="FF0000"/>
                </a:solidFill>
              </a:rPr>
              <a:t>&gt;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smtClean="0"/>
              <a:t>tag creates a horizontal line in an HTML page.</a:t>
            </a:r>
          </a:p>
          <a:p>
            <a:r>
              <a:rPr lang="en-US" dirty="0" smtClean="0"/>
              <a:t>The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hr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smtClean="0"/>
              <a:t>element can be used to separate content:</a:t>
            </a:r>
          </a:p>
          <a:p>
            <a:pPr marL="0" indent="0">
              <a:buNone/>
            </a:pPr>
            <a:r>
              <a:rPr lang="en-US" b="1" dirty="0" smtClean="0">
                <a:solidFill>
                  <a:srgbClr val="FF0000"/>
                </a:solidFill>
              </a:rPr>
              <a:t>Example:</a:t>
            </a:r>
          </a:p>
          <a:p>
            <a:r>
              <a:rPr lang="en-US" dirty="0" smtClean="0"/>
              <a:t>&lt;p&gt;This is a paragraph.&lt;/p&gt;</a:t>
            </a:r>
            <a:br>
              <a:rPr lang="en-US" dirty="0" smtClean="0"/>
            </a:br>
            <a:r>
              <a:rPr lang="en-US" dirty="0" smtClean="0"/>
              <a:t>&lt;</a:t>
            </a:r>
            <a:r>
              <a:rPr lang="en-US" dirty="0" err="1" smtClean="0"/>
              <a:t>hr</a:t>
            </a:r>
            <a:r>
              <a:rPr lang="en-US" dirty="0" smtClean="0"/>
              <a:t>&gt;</a:t>
            </a:r>
            <a:br>
              <a:rPr lang="en-US" dirty="0" smtClean="0"/>
            </a:br>
            <a:r>
              <a:rPr lang="en-US" dirty="0" smtClean="0"/>
              <a:t>&lt;p&gt;This is a paragraph.&lt;/p&gt;</a:t>
            </a:r>
            <a:br>
              <a:rPr lang="en-US" dirty="0" smtClean="0"/>
            </a:br>
            <a:r>
              <a:rPr lang="en-US" dirty="0" smtClean="0"/>
              <a:t>&lt;</a:t>
            </a:r>
            <a:r>
              <a:rPr lang="en-US" dirty="0" err="1" smtClean="0"/>
              <a:t>hr</a:t>
            </a:r>
            <a:r>
              <a:rPr lang="en-US" dirty="0" smtClean="0"/>
              <a:t>&gt;</a:t>
            </a:r>
            <a:br>
              <a:rPr lang="en-US" dirty="0" smtClean="0"/>
            </a:br>
            <a:r>
              <a:rPr lang="en-US" dirty="0" smtClean="0"/>
              <a:t>&lt;p&gt;This is a paragraph.&lt;/p&gt; </a:t>
            </a:r>
          </a:p>
          <a:p>
            <a:endParaRPr lang="en-US" dirty="0"/>
          </a:p>
        </p:txBody>
      </p:sp>
      <p:pic>
        <p:nvPicPr>
          <p:cNvPr id="4" name="Picture 10" descr="https://upload.wikimedia.org/wikipedia/commons/thumb/6/61/HTML5_logo_and_wordmark.svg/2000px-HTML5_logo_and_wordmark.svg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5748" y="5029201"/>
            <a:ext cx="2377017" cy="1782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122"/>
          <a:stretch/>
        </p:blipFill>
        <p:spPr bwMode="auto">
          <a:xfrm>
            <a:off x="6096000" y="2923382"/>
            <a:ext cx="3417912" cy="357108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27970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  <a:latin typeface="Aharoni" pitchFamily="2" charset="-79"/>
                <a:cs typeface="Aharoni" pitchFamily="2" charset="-79"/>
              </a:rPr>
              <a:t>The HTML &lt;meta&gt; Element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HTML </a:t>
            </a:r>
            <a:r>
              <a:rPr lang="en-US" b="1" dirty="0" smtClean="0"/>
              <a:t>&lt;</a:t>
            </a:r>
            <a:r>
              <a:rPr lang="en-US" b="1" dirty="0" smtClean="0">
                <a:solidFill>
                  <a:srgbClr val="FF0000"/>
                </a:solidFill>
              </a:rPr>
              <a:t>meta&gt;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smtClean="0"/>
              <a:t>element is also meta data.</a:t>
            </a:r>
          </a:p>
          <a:p>
            <a:pPr marL="0" indent="0">
              <a:buNone/>
            </a:pPr>
            <a:r>
              <a:rPr lang="en-US" dirty="0" smtClean="0"/>
              <a:t>It can be used to define the character set, and other information about the HTML document.</a:t>
            </a:r>
          </a:p>
          <a:p>
            <a:pPr marL="0" indent="0">
              <a:buNone/>
            </a:pPr>
            <a:r>
              <a:rPr lang="en-US" b="1" dirty="0" smtClean="0"/>
              <a:t>In the chapter about HTML styles you discover more meta elements:</a:t>
            </a:r>
          </a:p>
          <a:p>
            <a:pPr>
              <a:buFont typeface="Wingdings" pitchFamily="2" charset="2"/>
              <a:buChar char="q"/>
            </a:pPr>
            <a:r>
              <a:rPr lang="en-US" dirty="0" smtClean="0"/>
              <a:t>The HTML </a:t>
            </a:r>
            <a:r>
              <a:rPr lang="en-US" b="1" dirty="0" smtClean="0">
                <a:solidFill>
                  <a:srgbClr val="FF0000"/>
                </a:solidFill>
              </a:rPr>
              <a:t>&lt;style&gt;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smtClean="0"/>
              <a:t>element is used to define internal CSS style sheets.</a:t>
            </a:r>
          </a:p>
          <a:p>
            <a:pPr>
              <a:buFont typeface="Wingdings" pitchFamily="2" charset="2"/>
              <a:buChar char="q"/>
            </a:pPr>
            <a:r>
              <a:rPr lang="en-US" dirty="0" smtClean="0"/>
              <a:t>The HTML </a:t>
            </a:r>
            <a:r>
              <a:rPr lang="en-US" b="1" dirty="0" smtClean="0">
                <a:solidFill>
                  <a:srgbClr val="FF0000"/>
                </a:solidFill>
              </a:rPr>
              <a:t>&lt;link&gt;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smtClean="0"/>
              <a:t>element is used to define external CSS style sheets.</a:t>
            </a:r>
          </a:p>
          <a:p>
            <a:endParaRPr lang="en-US" dirty="0"/>
          </a:p>
        </p:txBody>
      </p:sp>
      <p:pic>
        <p:nvPicPr>
          <p:cNvPr id="4" name="Picture 10" descr="https://upload.wikimedia.org/wikipedia/commons/thumb/6/61/HTML5_logo_and_wordmark.svg/2000px-HTML5_logo_and_wordmark.svg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5748" y="5075238"/>
            <a:ext cx="2377017" cy="1782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161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  <a:latin typeface="Aharoni" pitchFamily="2" charset="-79"/>
                <a:cs typeface="Aharoni" pitchFamily="2" charset="-79"/>
              </a:rPr>
              <a:t>HTML Line Breaks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The HTML </a:t>
            </a:r>
            <a:r>
              <a:rPr lang="en-US" b="1" dirty="0" smtClean="0">
                <a:solidFill>
                  <a:srgbClr val="FF0000"/>
                </a:solidFill>
              </a:rPr>
              <a:t>&lt;</a:t>
            </a:r>
            <a:r>
              <a:rPr lang="en-US" b="1" dirty="0" err="1" smtClean="0">
                <a:solidFill>
                  <a:srgbClr val="FF0000"/>
                </a:solidFill>
              </a:rPr>
              <a:t>br</a:t>
            </a:r>
            <a:r>
              <a:rPr lang="en-US" b="1" dirty="0" smtClean="0">
                <a:solidFill>
                  <a:srgbClr val="FF0000"/>
                </a:solidFill>
              </a:rPr>
              <a:t>&gt;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smtClean="0"/>
              <a:t>element defines a </a:t>
            </a:r>
            <a:r>
              <a:rPr lang="en-US" b="1" dirty="0" smtClean="0"/>
              <a:t>line break</a:t>
            </a:r>
            <a:r>
              <a:rPr lang="en-US" dirty="0" smtClean="0"/>
              <a:t>.</a:t>
            </a:r>
          </a:p>
          <a:p>
            <a:pPr>
              <a:buFont typeface="Wingdings" pitchFamily="2" charset="2"/>
              <a:buChar char="q"/>
            </a:pPr>
            <a:r>
              <a:rPr lang="en-US" dirty="0" smtClean="0"/>
              <a:t>Use </a:t>
            </a:r>
            <a:r>
              <a:rPr lang="en-US" dirty="0" smtClean="0">
                <a:solidFill>
                  <a:srgbClr val="FF0000"/>
                </a:solidFill>
              </a:rPr>
              <a:t>&lt;</a:t>
            </a:r>
            <a:r>
              <a:rPr lang="en-US" dirty="0" err="1" smtClean="0">
                <a:solidFill>
                  <a:srgbClr val="FF0000"/>
                </a:solidFill>
              </a:rPr>
              <a:t>br</a:t>
            </a:r>
            <a:r>
              <a:rPr lang="en-US" dirty="0" smtClean="0">
                <a:solidFill>
                  <a:srgbClr val="FF0000"/>
                </a:solidFill>
              </a:rPr>
              <a:t>&gt; </a:t>
            </a:r>
            <a:r>
              <a:rPr lang="en-US" dirty="0" smtClean="0"/>
              <a:t>if you want a line break (a new line) without starting a new paragraph:</a:t>
            </a:r>
          </a:p>
          <a:p>
            <a:pPr marL="0" indent="0">
              <a:buNone/>
            </a:pPr>
            <a:r>
              <a:rPr lang="en-US" b="1" dirty="0" smtClean="0">
                <a:solidFill>
                  <a:srgbClr val="FF0000"/>
                </a:solidFill>
              </a:rPr>
              <a:t>Example:</a:t>
            </a:r>
          </a:p>
          <a:p>
            <a:pPr marL="0" indent="0">
              <a:buNone/>
            </a:pPr>
            <a:r>
              <a:rPr lang="en-US" dirty="0" smtClean="0"/>
              <a:t>     &lt;p&gt;This is&lt;</a:t>
            </a:r>
            <a:r>
              <a:rPr lang="en-US" dirty="0" err="1" smtClean="0"/>
              <a:t>br</a:t>
            </a:r>
            <a:r>
              <a:rPr lang="en-US" dirty="0" smtClean="0"/>
              <a:t>&gt;a para&lt;</a:t>
            </a:r>
            <a:r>
              <a:rPr lang="en-US" dirty="0" err="1" smtClean="0"/>
              <a:t>br</a:t>
            </a:r>
            <a:r>
              <a:rPr lang="en-US" dirty="0" smtClean="0"/>
              <a:t>&gt;graph with line breaks&lt;/p&gt; 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b="1" dirty="0" smtClean="0">
                <a:solidFill>
                  <a:srgbClr val="FF0000"/>
                </a:solidFill>
                <a:latin typeface="Aharoni" pitchFamily="2" charset="-79"/>
                <a:cs typeface="Aharoni" pitchFamily="2" charset="-79"/>
              </a:rPr>
              <a:t>Output:</a:t>
            </a:r>
          </a:p>
          <a:p>
            <a:pPr marL="0" indent="0">
              <a:buNone/>
            </a:pPr>
            <a:r>
              <a:rPr lang="en-US" dirty="0" smtClean="0"/>
              <a:t>This is</a:t>
            </a:r>
            <a:br>
              <a:rPr lang="en-US" dirty="0" smtClean="0"/>
            </a:br>
            <a:r>
              <a:rPr lang="en-US" dirty="0" smtClean="0"/>
              <a:t>a para</a:t>
            </a:r>
            <a:br>
              <a:rPr lang="en-US" dirty="0" smtClean="0"/>
            </a:br>
            <a:r>
              <a:rPr lang="en-US" dirty="0" smtClean="0"/>
              <a:t>graph with line breaks</a:t>
            </a:r>
          </a:p>
          <a:p>
            <a:endParaRPr lang="en-US" dirty="0"/>
          </a:p>
        </p:txBody>
      </p:sp>
      <p:pic>
        <p:nvPicPr>
          <p:cNvPr id="4" name="Picture 10" descr="https://upload.wikimedia.org/wikipedia/commons/thumb/6/61/HTML5_logo_and_wordmark.svg/2000px-HTML5_logo_and_wordmark.svg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5748" y="5075238"/>
            <a:ext cx="2377017" cy="1782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6962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  <a:latin typeface="Agency FB" pitchFamily="34" charset="0"/>
              </a:rPr>
              <a:t>The HTML &lt;pre&gt; Element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The HTML </a:t>
            </a:r>
            <a:r>
              <a:rPr lang="en-US" dirty="0" smtClean="0">
                <a:solidFill>
                  <a:srgbClr val="FF0000"/>
                </a:solidFill>
              </a:rPr>
              <a:t>&lt;pre&gt; </a:t>
            </a:r>
            <a:r>
              <a:rPr lang="en-US" dirty="0" smtClean="0"/>
              <a:t>element defines preformatted text.</a:t>
            </a:r>
          </a:p>
          <a:p>
            <a:pPr marL="0" indent="0">
              <a:buNone/>
            </a:pPr>
            <a:r>
              <a:rPr lang="en-US" dirty="0" smtClean="0"/>
              <a:t>   </a:t>
            </a:r>
            <a:r>
              <a:rPr lang="en-US" b="1" dirty="0" smtClean="0">
                <a:solidFill>
                  <a:srgbClr val="FF0000"/>
                </a:solidFill>
                <a:latin typeface="Aharoni" pitchFamily="2" charset="-79"/>
                <a:cs typeface="Aharoni" pitchFamily="2" charset="-79"/>
              </a:rPr>
              <a:t>Example</a:t>
            </a:r>
          </a:p>
          <a:p>
            <a:pPr marL="0" indent="0">
              <a:buNone/>
            </a:pPr>
            <a:r>
              <a:rPr lang="en-US" dirty="0" smtClean="0"/>
              <a:t>&lt;pre&gt;</a:t>
            </a:r>
            <a:br>
              <a:rPr lang="en-US" dirty="0" smtClean="0"/>
            </a:br>
            <a:r>
              <a:rPr lang="en-US" dirty="0" smtClean="0"/>
              <a:t>  My Bonnie lies over the ocean.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  My Bonnie lies over the sea.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  My Bonnie lies over the ocean.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  Oh, bring back my Bonnie to me.</a:t>
            </a:r>
            <a:br>
              <a:rPr lang="en-US" dirty="0" smtClean="0"/>
            </a:br>
            <a:r>
              <a:rPr lang="en-US" dirty="0" smtClean="0"/>
              <a:t>&lt;/pre&gt;</a:t>
            </a:r>
          </a:p>
          <a:p>
            <a:endParaRPr lang="en-US" dirty="0"/>
          </a:p>
        </p:txBody>
      </p:sp>
      <p:pic>
        <p:nvPicPr>
          <p:cNvPr id="4" name="Picture 10" descr="https://upload.wikimedia.org/wikipedia/commons/thumb/6/61/HTML5_logo_and_wordmark.svg/2000px-HTML5_logo_and_wordmark.svg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5748" y="5105401"/>
            <a:ext cx="2377017" cy="1782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08" b="14394"/>
          <a:stretch/>
        </p:blipFill>
        <p:spPr bwMode="auto">
          <a:xfrm>
            <a:off x="6305265" y="2409673"/>
            <a:ext cx="5877499" cy="26282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68913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  <a:latin typeface="Aharoni" pitchFamily="2" charset="-79"/>
                <a:cs typeface="Aharoni" pitchFamily="2" charset="-79"/>
              </a:rPr>
              <a:t>HTML Styling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Every HTML element has a </a:t>
            </a:r>
            <a:r>
              <a:rPr lang="en-US" b="1" dirty="0" smtClean="0">
                <a:solidFill>
                  <a:srgbClr val="FF0000"/>
                </a:solidFill>
              </a:rPr>
              <a:t>default style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smtClean="0"/>
              <a:t>(</a:t>
            </a:r>
            <a:r>
              <a:rPr lang="en-US" sz="2400" dirty="0" smtClean="0"/>
              <a:t>background color is white and text color is black</a:t>
            </a:r>
            <a:r>
              <a:rPr lang="en-US" dirty="0" smtClean="0"/>
              <a:t>).</a:t>
            </a:r>
          </a:p>
          <a:p>
            <a:r>
              <a:rPr lang="en-US" dirty="0" smtClean="0"/>
              <a:t>Changing the default style of an HTML element, can be done with the </a:t>
            </a:r>
            <a:r>
              <a:rPr lang="en-US" b="1" dirty="0" smtClean="0">
                <a:solidFill>
                  <a:srgbClr val="FF0000"/>
                </a:solidFill>
              </a:rPr>
              <a:t>style attribute</a:t>
            </a:r>
            <a:r>
              <a:rPr lang="en-US" dirty="0" smtClean="0">
                <a:solidFill>
                  <a:srgbClr val="FF0000"/>
                </a:solidFill>
              </a:rPr>
              <a:t>.</a:t>
            </a:r>
          </a:p>
          <a:p>
            <a:endParaRPr lang="en-US" dirty="0"/>
          </a:p>
        </p:txBody>
      </p:sp>
      <p:pic>
        <p:nvPicPr>
          <p:cNvPr id="4" name="Picture 10" descr="https://upload.wikimedia.org/wikipedia/commons/thumb/6/61/HTML5_logo_and_wordmark.svg/2000px-HTML5_logo_and_wordmark.svg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5748" y="5075238"/>
            <a:ext cx="2377017" cy="1782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4718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  <a:latin typeface="Aharoni" pitchFamily="2" charset="-79"/>
                <a:cs typeface="Aharoni" pitchFamily="2" charset="-79"/>
              </a:rPr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6691313" cy="4351338"/>
          </a:xfrm>
        </p:spPr>
        <p:txBody>
          <a:bodyPr/>
          <a:lstStyle/>
          <a:p>
            <a:r>
              <a:rPr lang="en-US" dirty="0" smtClean="0"/>
              <a:t>&lt;body style="</a:t>
            </a:r>
            <a:r>
              <a:rPr lang="en-US" dirty="0" err="1" smtClean="0"/>
              <a:t>background-color:lightgrey</a:t>
            </a:r>
            <a:r>
              <a:rPr lang="en-US" dirty="0" smtClean="0"/>
              <a:t>"&gt;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&lt;h1&gt;This is a heading&lt;/h1&gt;</a:t>
            </a:r>
            <a:br>
              <a:rPr lang="en-US" dirty="0" smtClean="0"/>
            </a:br>
            <a:r>
              <a:rPr lang="en-US" dirty="0" smtClean="0"/>
              <a:t>&lt;p&gt;This is a paragraph.&lt;/p&gt;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&lt;/body&gt;</a:t>
            </a:r>
          </a:p>
          <a:p>
            <a:endParaRPr lang="en-US" dirty="0"/>
          </a:p>
        </p:txBody>
      </p:sp>
      <p:pic>
        <p:nvPicPr>
          <p:cNvPr id="4" name="Picture 10" descr="https://upload.wikimedia.org/wikipedia/commons/thumb/6/61/HTML5_logo_and_wordmark.svg/2000px-HTML5_logo_and_wordmark.svg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5748" y="5075238"/>
            <a:ext cx="2377017" cy="1782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2"/>
          <p:cNvSpPr txBox="1">
            <a:spLocks/>
          </p:cNvSpPr>
          <p:nvPr/>
        </p:nvSpPr>
        <p:spPr>
          <a:xfrm>
            <a:off x="7900989" y="1615281"/>
            <a:ext cx="358616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5839" y="3868091"/>
            <a:ext cx="5207530" cy="28930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328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  <a:latin typeface="Aharoni" pitchFamily="2" charset="-79"/>
                <a:cs typeface="Aharoni" pitchFamily="2" charset="-79"/>
              </a:rPr>
              <a:t>Text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 smtClean="0">
                <a:solidFill>
                  <a:srgbClr val="FF0000"/>
                </a:solidFill>
                <a:latin typeface="Aharoni" pitchFamily="2" charset="-79"/>
                <a:cs typeface="Aharoni" pitchFamily="2" charset="-79"/>
              </a:rPr>
              <a:t>Text Color </a:t>
            </a:r>
          </a:p>
          <a:p>
            <a:pPr marL="0" indent="0">
              <a:buNone/>
            </a:pPr>
            <a:r>
              <a:rPr lang="en-US" dirty="0" smtClean="0"/>
              <a:t>&lt;h1 style="</a:t>
            </a:r>
            <a:r>
              <a:rPr lang="en-US" dirty="0" err="1" smtClean="0"/>
              <a:t>color:blue</a:t>
            </a:r>
            <a:r>
              <a:rPr lang="en-US" dirty="0" smtClean="0"/>
              <a:t>"&gt;This is a heading&lt;/h1&gt;</a:t>
            </a:r>
          </a:p>
          <a:p>
            <a:pPr marL="0" indent="0">
              <a:buNone/>
            </a:pPr>
            <a:r>
              <a:rPr lang="en-US" dirty="0" smtClean="0"/>
              <a:t/>
            </a:r>
            <a:br>
              <a:rPr lang="en-US" dirty="0" smtClean="0"/>
            </a:br>
            <a:r>
              <a:rPr lang="en-US" b="1" dirty="0" smtClean="0">
                <a:solidFill>
                  <a:srgbClr val="FF0000"/>
                </a:solidFill>
                <a:latin typeface="Aharoni" pitchFamily="2" charset="-79"/>
                <a:cs typeface="Aharoni" pitchFamily="2" charset="-79"/>
              </a:rPr>
              <a:t>Fonts</a:t>
            </a:r>
          </a:p>
          <a:p>
            <a:pPr marL="0" indent="0">
              <a:buNone/>
            </a:pPr>
            <a:r>
              <a:rPr lang="en-US" dirty="0" smtClean="0"/>
              <a:t>&lt;h1 style="</a:t>
            </a:r>
            <a:r>
              <a:rPr lang="en-US" dirty="0" err="1" smtClean="0"/>
              <a:t>font-family:verdana</a:t>
            </a:r>
            <a:r>
              <a:rPr lang="en-US" dirty="0" smtClean="0"/>
              <a:t>"&gt;This is a heading&lt;/h1&gt;</a:t>
            </a:r>
          </a:p>
          <a:p>
            <a:pPr marL="0" indent="0">
              <a:buNone/>
            </a:pPr>
            <a:r>
              <a:rPr lang="en-US" dirty="0" smtClean="0"/>
              <a:t/>
            </a:r>
            <a:br>
              <a:rPr lang="en-US" dirty="0" smtClean="0"/>
            </a:br>
            <a:r>
              <a:rPr lang="en-US" b="1" dirty="0" smtClean="0">
                <a:solidFill>
                  <a:srgbClr val="FF0000"/>
                </a:solidFill>
              </a:rPr>
              <a:t>Text Size</a:t>
            </a:r>
          </a:p>
          <a:p>
            <a:pPr marL="0" indent="0">
              <a:buNone/>
            </a:pPr>
            <a:r>
              <a:rPr lang="en-US" dirty="0" smtClean="0"/>
              <a:t>&lt;h1 style="font-size:300%"&gt;This is a heading&lt;/h1&gt;</a:t>
            </a:r>
          </a:p>
          <a:p>
            <a:endParaRPr lang="en-US" dirty="0" smtClean="0"/>
          </a:p>
          <a:p>
            <a:pPr marL="0" indent="0">
              <a:buNone/>
            </a:pPr>
            <a:r>
              <a:rPr lang="en-US" b="1" dirty="0" smtClean="0">
                <a:solidFill>
                  <a:srgbClr val="FF0000"/>
                </a:solidFill>
              </a:rPr>
              <a:t>Text Alignment</a:t>
            </a:r>
          </a:p>
          <a:p>
            <a:pPr marL="0" indent="0">
              <a:buNone/>
            </a:pPr>
            <a:r>
              <a:rPr lang="en-US" dirty="0" smtClean="0"/>
              <a:t>&lt;h1 style="</a:t>
            </a:r>
            <a:r>
              <a:rPr lang="en-US" dirty="0" err="1" smtClean="0"/>
              <a:t>text-align:center</a:t>
            </a:r>
            <a:r>
              <a:rPr lang="en-US" dirty="0" smtClean="0"/>
              <a:t>"&gt;Centered Heading&lt;/h1&gt;</a:t>
            </a:r>
          </a:p>
          <a:p>
            <a:endParaRPr lang="en-US" dirty="0"/>
          </a:p>
        </p:txBody>
      </p:sp>
      <p:pic>
        <p:nvPicPr>
          <p:cNvPr id="4" name="Picture 10" descr="https://upload.wikimedia.org/wikipedia/commons/thumb/6/61/HTML5_logo_and_wordmark.svg/2000px-HTML5_logo_and_wordmark.svg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5748" y="5075238"/>
            <a:ext cx="2377017" cy="1782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9958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  <a:latin typeface="Aharoni" pitchFamily="2" charset="-79"/>
                <a:cs typeface="Aharoni" pitchFamily="2" charset="-79"/>
              </a:rPr>
              <a:t>Text Formatting Elements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buClr>
                <a:srgbClr val="FF0000"/>
              </a:buClr>
              <a:buFont typeface="Wingdings" pitchFamily="2" charset="2"/>
              <a:buChar char="v"/>
            </a:pPr>
            <a:r>
              <a:rPr lang="en-US" sz="2000" b="1" dirty="0" smtClean="0"/>
              <a:t>Bold                                              </a:t>
            </a:r>
            <a:r>
              <a:rPr lang="en-US" sz="2000" b="1" dirty="0" smtClean="0">
                <a:solidFill>
                  <a:srgbClr val="FF0000"/>
                </a:solidFill>
              </a:rPr>
              <a:t> &lt;b&gt;</a:t>
            </a:r>
          </a:p>
          <a:p>
            <a:pPr>
              <a:buClr>
                <a:srgbClr val="FF0000"/>
              </a:buClr>
              <a:buFont typeface="Wingdings" pitchFamily="2" charset="2"/>
              <a:buChar char="v"/>
            </a:pPr>
            <a:r>
              <a:rPr lang="en-US" sz="2000" b="1" dirty="0" smtClean="0"/>
              <a:t>Strong                                           </a:t>
            </a:r>
            <a:r>
              <a:rPr lang="en-US" sz="2000" b="1" dirty="0" smtClean="0">
                <a:solidFill>
                  <a:srgbClr val="FF0000"/>
                </a:solidFill>
              </a:rPr>
              <a:t>&lt;strong&gt;</a:t>
            </a:r>
          </a:p>
          <a:p>
            <a:pPr>
              <a:buClr>
                <a:srgbClr val="FF0000"/>
              </a:buClr>
              <a:buFont typeface="Wingdings" pitchFamily="2" charset="2"/>
              <a:buChar char="v"/>
            </a:pPr>
            <a:r>
              <a:rPr lang="en-US" sz="2000" b="1" i="1" dirty="0" smtClean="0"/>
              <a:t>Italic</a:t>
            </a:r>
            <a:r>
              <a:rPr lang="en-US" sz="2000" b="1" dirty="0" smtClean="0"/>
              <a:t> and </a:t>
            </a:r>
            <a:r>
              <a:rPr lang="en-US" sz="2000" b="1" i="1" dirty="0" smtClean="0"/>
              <a:t>Emphasized               </a:t>
            </a:r>
            <a:r>
              <a:rPr lang="en-US" sz="2000" b="1" i="1" dirty="0" smtClean="0">
                <a:solidFill>
                  <a:srgbClr val="FF0000"/>
                </a:solidFill>
              </a:rPr>
              <a:t> </a:t>
            </a:r>
            <a:r>
              <a:rPr lang="en-US" sz="2000" b="1" dirty="0" smtClean="0">
                <a:solidFill>
                  <a:srgbClr val="FF0000"/>
                </a:solidFill>
              </a:rPr>
              <a:t>&lt;</a:t>
            </a:r>
            <a:r>
              <a:rPr lang="en-US" sz="2000" b="1" dirty="0" err="1" smtClean="0">
                <a:solidFill>
                  <a:srgbClr val="FF0000"/>
                </a:solidFill>
              </a:rPr>
              <a:t>i</a:t>
            </a:r>
            <a:r>
              <a:rPr lang="en-US" sz="2000" b="1" dirty="0" smtClean="0">
                <a:solidFill>
                  <a:srgbClr val="FF0000"/>
                </a:solidFill>
              </a:rPr>
              <a:t>&gt;</a:t>
            </a:r>
            <a:r>
              <a:rPr lang="en-US" sz="2000" dirty="0" smtClean="0">
                <a:solidFill>
                  <a:srgbClr val="FF0000"/>
                </a:solidFill>
              </a:rPr>
              <a:t>                </a:t>
            </a:r>
            <a:r>
              <a:rPr lang="en-US" sz="2000" b="1" dirty="0" smtClean="0">
                <a:solidFill>
                  <a:srgbClr val="FF0000"/>
                </a:solidFill>
              </a:rPr>
              <a:t>&lt;</a:t>
            </a:r>
            <a:r>
              <a:rPr lang="en-US" sz="2000" b="1" dirty="0" err="1" smtClean="0">
                <a:solidFill>
                  <a:srgbClr val="FF0000"/>
                </a:solidFill>
              </a:rPr>
              <a:t>em</a:t>
            </a:r>
            <a:r>
              <a:rPr lang="en-US" sz="2000" b="1" dirty="0" smtClean="0">
                <a:solidFill>
                  <a:srgbClr val="FF0000"/>
                </a:solidFill>
              </a:rPr>
              <a:t>&gt;</a:t>
            </a:r>
          </a:p>
          <a:p>
            <a:pPr>
              <a:buClr>
                <a:srgbClr val="FF0000"/>
              </a:buClr>
              <a:buFont typeface="Wingdings" pitchFamily="2" charset="2"/>
              <a:buChar char="v"/>
            </a:pPr>
            <a:r>
              <a:rPr lang="en-US" sz="2000" b="1" dirty="0" smtClean="0"/>
              <a:t>Small                                             </a:t>
            </a:r>
            <a:r>
              <a:rPr lang="en-US" sz="2000" b="1" dirty="0" smtClean="0">
                <a:solidFill>
                  <a:srgbClr val="FF0000"/>
                </a:solidFill>
              </a:rPr>
              <a:t>&lt;small&gt;</a:t>
            </a:r>
          </a:p>
          <a:p>
            <a:pPr>
              <a:buClr>
                <a:srgbClr val="FF0000"/>
              </a:buClr>
              <a:buFont typeface="Wingdings" pitchFamily="2" charset="2"/>
              <a:buChar char="v"/>
            </a:pPr>
            <a:r>
              <a:rPr lang="en-US" sz="2000" b="1" dirty="0" smtClean="0"/>
              <a:t>Marked                                         </a:t>
            </a:r>
            <a:r>
              <a:rPr lang="en-US" sz="2000" b="1" dirty="0" smtClean="0">
                <a:solidFill>
                  <a:srgbClr val="FF0000"/>
                </a:solidFill>
              </a:rPr>
              <a:t>&lt;mark&gt;</a:t>
            </a:r>
          </a:p>
          <a:p>
            <a:pPr>
              <a:buClr>
                <a:srgbClr val="FF0000"/>
              </a:buClr>
              <a:buFont typeface="Wingdings" pitchFamily="2" charset="2"/>
              <a:buChar char="v"/>
            </a:pPr>
            <a:r>
              <a:rPr lang="en-US" sz="2000" b="1" dirty="0" smtClean="0"/>
              <a:t>Deleted                                         </a:t>
            </a:r>
            <a:r>
              <a:rPr lang="en-US" sz="2000" b="1" dirty="0" smtClean="0">
                <a:solidFill>
                  <a:srgbClr val="FF0000"/>
                </a:solidFill>
              </a:rPr>
              <a:t>&lt;del&gt;</a:t>
            </a:r>
            <a:r>
              <a:rPr lang="en-US" sz="2000" dirty="0" smtClean="0">
                <a:solidFill>
                  <a:srgbClr val="FF0000"/>
                </a:solidFill>
              </a:rPr>
              <a:t> </a:t>
            </a:r>
            <a:endParaRPr lang="en-US" sz="2000" b="1" dirty="0" smtClean="0">
              <a:solidFill>
                <a:srgbClr val="FF0000"/>
              </a:solidFill>
            </a:endParaRPr>
          </a:p>
          <a:p>
            <a:pPr>
              <a:buClr>
                <a:srgbClr val="FF0000"/>
              </a:buClr>
              <a:buFont typeface="Wingdings" pitchFamily="2" charset="2"/>
              <a:buChar char="v"/>
            </a:pPr>
            <a:r>
              <a:rPr lang="en-US" sz="2000" b="1" dirty="0" smtClean="0"/>
              <a:t>Inserted                                        </a:t>
            </a:r>
            <a:r>
              <a:rPr lang="en-US" sz="2000" b="1" dirty="0" smtClean="0">
                <a:solidFill>
                  <a:srgbClr val="FF0000"/>
                </a:solidFill>
              </a:rPr>
              <a:t>&lt;ins&gt;</a:t>
            </a:r>
            <a:endParaRPr lang="en-US" sz="2000" b="1" dirty="0" smtClean="0"/>
          </a:p>
          <a:p>
            <a:pPr>
              <a:buClr>
                <a:srgbClr val="FF0000"/>
              </a:buClr>
              <a:buFont typeface="Wingdings" pitchFamily="2" charset="2"/>
              <a:buChar char="v"/>
            </a:pPr>
            <a:r>
              <a:rPr lang="en-US" sz="2000" b="1" baseline="-25000" dirty="0" smtClean="0"/>
              <a:t>Subscript                                                                 </a:t>
            </a:r>
            <a:r>
              <a:rPr lang="en-US" sz="2000" b="1" dirty="0" smtClean="0">
                <a:solidFill>
                  <a:srgbClr val="FF0000"/>
                </a:solidFill>
              </a:rPr>
              <a:t>&lt;sub&gt;</a:t>
            </a:r>
            <a:r>
              <a:rPr lang="en-US" sz="2000" dirty="0" smtClean="0">
                <a:solidFill>
                  <a:srgbClr val="FF0000"/>
                </a:solidFill>
              </a:rPr>
              <a:t> </a:t>
            </a:r>
            <a:endParaRPr lang="en-US" sz="2000" b="1" dirty="0" smtClean="0"/>
          </a:p>
          <a:p>
            <a:pPr>
              <a:buClr>
                <a:srgbClr val="FF0000"/>
              </a:buClr>
              <a:buFont typeface="Wingdings" pitchFamily="2" charset="2"/>
              <a:buChar char="v"/>
            </a:pPr>
            <a:r>
              <a:rPr lang="en-US" sz="2000" b="1" baseline="30000" dirty="0" smtClean="0"/>
              <a:t>Superscript</a:t>
            </a:r>
            <a:r>
              <a:rPr lang="en-US" sz="2000" b="1" dirty="0" smtClean="0"/>
              <a:t>                                          </a:t>
            </a:r>
            <a:r>
              <a:rPr lang="en-US" sz="2000" b="1" dirty="0" smtClean="0">
                <a:solidFill>
                  <a:srgbClr val="FF0000"/>
                </a:solidFill>
              </a:rPr>
              <a:t>&lt;sup&gt;</a:t>
            </a:r>
            <a:r>
              <a:rPr lang="en-US" sz="2000" dirty="0" smtClean="0">
                <a:solidFill>
                  <a:srgbClr val="FF0000"/>
                </a:solidFill>
              </a:rPr>
              <a:t> </a:t>
            </a:r>
          </a:p>
          <a:p>
            <a:pPr>
              <a:buClr>
                <a:srgbClr val="FF0000"/>
              </a:buClr>
              <a:buFont typeface="Wingdings" pitchFamily="2" charset="2"/>
              <a:buChar char="v"/>
            </a:pPr>
            <a:r>
              <a:rPr lang="en-US" sz="2000" dirty="0" smtClean="0">
                <a:solidFill>
                  <a:srgbClr val="FF0000"/>
                </a:solidFill>
              </a:rPr>
              <a:t>---------------------------------------</a:t>
            </a:r>
          </a:p>
          <a:p>
            <a:pPr>
              <a:buClr>
                <a:srgbClr val="FF0000"/>
              </a:buClr>
              <a:buFont typeface="Wingdings" pitchFamily="2" charset="2"/>
              <a:buChar char="v"/>
            </a:pPr>
            <a:r>
              <a:rPr lang="en-US" sz="2000" b="1" dirty="0" smtClean="0"/>
              <a:t>This text is bold</a:t>
            </a: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2000" i="1" dirty="0" smtClean="0"/>
              <a:t>This text is italic</a:t>
            </a: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2000" dirty="0" smtClean="0"/>
              <a:t>This is </a:t>
            </a:r>
            <a:r>
              <a:rPr lang="en-US" sz="2000" baseline="30000" dirty="0" smtClean="0"/>
              <a:t>superscript</a:t>
            </a:r>
            <a:endParaRPr lang="en-US" sz="2000" dirty="0" smtClean="0">
              <a:solidFill>
                <a:srgbClr val="FF0000"/>
              </a:solidFill>
            </a:endParaRPr>
          </a:p>
          <a:p>
            <a:pPr>
              <a:buClr>
                <a:srgbClr val="FF0000"/>
              </a:buClr>
              <a:buFont typeface="Wingdings" pitchFamily="2" charset="2"/>
              <a:buChar char="v"/>
            </a:pPr>
            <a:endParaRPr lang="en-US" b="1" dirty="0">
              <a:solidFill>
                <a:srgbClr val="FF0000"/>
              </a:solidFill>
            </a:endParaRPr>
          </a:p>
          <a:p>
            <a:pPr>
              <a:buClr>
                <a:srgbClr val="FF0000"/>
              </a:buClr>
              <a:buFont typeface="Wingdings" pitchFamily="2" charset="2"/>
              <a:buChar char="v"/>
            </a:pPr>
            <a:endParaRPr lang="en-US" b="1" dirty="0" smtClean="0">
              <a:solidFill>
                <a:srgbClr val="FF0000"/>
              </a:solidFill>
            </a:endParaRPr>
          </a:p>
          <a:p>
            <a:endParaRPr lang="en-US" dirty="0"/>
          </a:p>
        </p:txBody>
      </p:sp>
      <p:pic>
        <p:nvPicPr>
          <p:cNvPr id="4" name="Picture 10" descr="https://upload.wikimedia.org/wikipedia/commons/thumb/6/61/HTML5_logo_and_wordmark.svg/2000px-HTML5_logo_and_wordmark.svg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5748" y="5075238"/>
            <a:ext cx="2377017" cy="1782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2874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  <a:latin typeface="Aharoni" pitchFamily="2" charset="-79"/>
                <a:cs typeface="Aharoni" pitchFamily="2" charset="-79"/>
              </a:rPr>
              <a:t>Quotations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The HTML </a:t>
            </a:r>
            <a:r>
              <a:rPr lang="en-US" b="1" dirty="0" smtClean="0">
                <a:solidFill>
                  <a:srgbClr val="FF0000"/>
                </a:solidFill>
              </a:rPr>
              <a:t>&lt;q&gt;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smtClean="0"/>
              <a:t>element defines a short quotation.</a:t>
            </a:r>
          </a:p>
          <a:p>
            <a:r>
              <a:rPr lang="en-US" dirty="0" smtClean="0"/>
              <a:t>Browsers usually insert quotation marks around the </a:t>
            </a:r>
            <a:r>
              <a:rPr lang="en-US" dirty="0" smtClean="0">
                <a:solidFill>
                  <a:srgbClr val="FF0000"/>
                </a:solidFill>
              </a:rPr>
              <a:t>&lt;q&gt; </a:t>
            </a:r>
            <a:r>
              <a:rPr lang="en-US" dirty="0" smtClean="0"/>
              <a:t>element.</a:t>
            </a:r>
          </a:p>
          <a:p>
            <a:pPr marL="0" indent="0">
              <a:buNone/>
            </a:pPr>
            <a:r>
              <a:rPr lang="en-US" b="1" dirty="0" smtClean="0">
                <a:solidFill>
                  <a:srgbClr val="FF0000"/>
                </a:solidFill>
              </a:rPr>
              <a:t>Example:</a:t>
            </a:r>
          </a:p>
          <a:p>
            <a:pPr marL="0" indent="0">
              <a:buNone/>
            </a:pPr>
            <a:r>
              <a:rPr lang="en-US" dirty="0" smtClean="0"/>
              <a:t>&lt;p&gt;WWF's goal is to: &lt;q&gt;Build a future where people live in harmony with nature.&lt;/q&gt;&lt;/p&gt;</a:t>
            </a:r>
          </a:p>
          <a:p>
            <a:pPr marL="0" indent="0">
              <a:buNone/>
            </a:pPr>
            <a:r>
              <a:rPr lang="en-US" b="1" dirty="0" smtClean="0">
                <a:solidFill>
                  <a:srgbClr val="FF0000"/>
                </a:solidFill>
              </a:rPr>
              <a:t>Output:</a:t>
            </a:r>
          </a:p>
          <a:p>
            <a:pPr marL="0" indent="0">
              <a:buNone/>
            </a:pPr>
            <a:r>
              <a:rPr lang="en-US" dirty="0" smtClean="0"/>
              <a:t>WWF's goal is to: “Build a future where people live in harmony with nature."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4663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  <a:latin typeface="Aharoni" pitchFamily="2" charset="-79"/>
                <a:cs typeface="Aharoni" pitchFamily="2" charset="-79"/>
              </a:rPr>
              <a:t>Some Other Element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The HTML </a:t>
            </a:r>
            <a:r>
              <a:rPr lang="en-US" b="1" dirty="0" smtClean="0"/>
              <a:t>&lt;</a:t>
            </a:r>
            <a:r>
              <a:rPr lang="en-US" b="1" dirty="0" err="1" smtClean="0"/>
              <a:t>abbr</a:t>
            </a:r>
            <a:r>
              <a:rPr lang="en-US" b="1" dirty="0" smtClean="0"/>
              <a:t>&gt;</a:t>
            </a:r>
            <a:r>
              <a:rPr lang="en-US" dirty="0" smtClean="0"/>
              <a:t> element defines an abbreviation or an acronym.</a:t>
            </a:r>
          </a:p>
          <a:p>
            <a:pPr marL="0" indent="0">
              <a:buNone/>
            </a:pPr>
            <a:r>
              <a:rPr lang="en-US" b="1" dirty="0" smtClean="0">
                <a:solidFill>
                  <a:srgbClr val="FF0000"/>
                </a:solidFill>
              </a:rPr>
              <a:t>Example:</a:t>
            </a:r>
          </a:p>
          <a:p>
            <a:pPr marL="0" indent="0">
              <a:buNone/>
            </a:pPr>
            <a:r>
              <a:rPr lang="en-US" dirty="0" smtClean="0"/>
              <a:t>&lt;p&gt;The &lt;</a:t>
            </a:r>
            <a:r>
              <a:rPr lang="en-US" dirty="0" err="1" smtClean="0"/>
              <a:t>abbr</a:t>
            </a:r>
            <a:r>
              <a:rPr lang="en-US" dirty="0" smtClean="0"/>
              <a:t> title="World Health Organization"&gt;WHO&lt;/</a:t>
            </a:r>
            <a:r>
              <a:rPr lang="en-US" dirty="0" err="1" smtClean="0"/>
              <a:t>abbr</a:t>
            </a:r>
            <a:r>
              <a:rPr lang="en-US" dirty="0" smtClean="0"/>
              <a:t>&gt; was founded in 1948.&lt;/p&gt;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  <a:latin typeface="Aharoni" pitchFamily="2" charset="-79"/>
                <a:cs typeface="Aharoni" pitchFamily="2" charset="-79"/>
              </a:rPr>
              <a:t>Output:</a:t>
            </a:r>
          </a:p>
          <a:p>
            <a:pPr marL="0" indent="0">
              <a:buNone/>
            </a:pPr>
            <a:r>
              <a:rPr lang="en-US" dirty="0" smtClean="0"/>
              <a:t>The </a:t>
            </a:r>
            <a:r>
              <a:rPr lang="en-US" u="sng" dirty="0" smtClean="0"/>
              <a:t>WHO</a:t>
            </a:r>
            <a:r>
              <a:rPr lang="en-US" dirty="0" smtClean="0"/>
              <a:t> was founded in 1948.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8563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Ordered VS Unordered List</a:t>
            </a:r>
            <a:endParaRPr lang="en-US" dirty="0"/>
          </a:p>
        </p:txBody>
      </p:sp>
      <p:sp>
        <p:nvSpPr>
          <p:cNvPr id="5" name="object 2"/>
          <p:cNvSpPr/>
          <p:nvPr/>
        </p:nvSpPr>
        <p:spPr>
          <a:xfrm>
            <a:off x="1930401" y="1891208"/>
            <a:ext cx="8166100" cy="40242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7973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30" dirty="0" smtClean="0"/>
              <a:t>Unordered </a:t>
            </a:r>
            <a:r>
              <a:rPr lang="en-US" spc="-185" dirty="0" smtClean="0"/>
              <a:t>HTML</a:t>
            </a:r>
            <a:r>
              <a:rPr lang="en-US" spc="-90" dirty="0" smtClean="0"/>
              <a:t> </a:t>
            </a:r>
            <a:r>
              <a:rPr lang="en-US" spc="-300" dirty="0" smtClean="0"/>
              <a:t>Lists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FF0000"/>
              </a:buClr>
              <a:buFont typeface="Wingdings"/>
              <a:buChar char=""/>
              <a:tabLst>
                <a:tab pos="354965" algn="l"/>
                <a:tab pos="355600" algn="l"/>
              </a:tabLst>
            </a:pPr>
            <a:r>
              <a:rPr lang="en-US" dirty="0" smtClean="0">
                <a:latin typeface="Carlito"/>
                <a:cs typeface="Carlito"/>
              </a:rPr>
              <a:t>An </a:t>
            </a:r>
            <a:r>
              <a:rPr lang="en-US" spc="-10" dirty="0" smtClean="0">
                <a:latin typeface="Carlito"/>
                <a:cs typeface="Carlito"/>
              </a:rPr>
              <a:t>unordered list starts </a:t>
            </a:r>
            <a:r>
              <a:rPr lang="en-US" spc="-5" dirty="0" smtClean="0">
                <a:latin typeface="Carlito"/>
                <a:cs typeface="Carlito"/>
              </a:rPr>
              <a:t>with </a:t>
            </a:r>
            <a:r>
              <a:rPr lang="en-US" dirty="0" smtClean="0">
                <a:latin typeface="Carlito"/>
                <a:cs typeface="Carlito"/>
              </a:rPr>
              <a:t>the </a:t>
            </a:r>
            <a:r>
              <a:rPr lang="en-US" b="1" dirty="0" smtClean="0">
                <a:solidFill>
                  <a:srgbClr val="FF0000"/>
                </a:solidFill>
                <a:latin typeface="Carlito"/>
                <a:cs typeface="Carlito"/>
              </a:rPr>
              <a:t>&lt;</a:t>
            </a:r>
            <a:r>
              <a:rPr lang="en-US" b="1" dirty="0" err="1" smtClean="0">
                <a:solidFill>
                  <a:srgbClr val="FF0000"/>
                </a:solidFill>
                <a:latin typeface="Carlito"/>
                <a:cs typeface="Carlito"/>
              </a:rPr>
              <a:t>ul</a:t>
            </a:r>
            <a:r>
              <a:rPr lang="en-US" b="1" dirty="0" smtClean="0">
                <a:solidFill>
                  <a:srgbClr val="FF0000"/>
                </a:solidFill>
                <a:latin typeface="Carlito"/>
                <a:cs typeface="Carlito"/>
              </a:rPr>
              <a:t>&gt; </a:t>
            </a:r>
            <a:r>
              <a:rPr lang="en-US" spc="-10" dirty="0" smtClean="0">
                <a:latin typeface="Carlito"/>
                <a:cs typeface="Carlito"/>
              </a:rPr>
              <a:t>tag. Each list item starts </a:t>
            </a:r>
            <a:r>
              <a:rPr lang="en-US" spc="-5" dirty="0" smtClean="0">
                <a:latin typeface="Carlito"/>
                <a:cs typeface="Carlito"/>
              </a:rPr>
              <a:t>with </a:t>
            </a:r>
            <a:r>
              <a:rPr lang="en-US" dirty="0" smtClean="0">
                <a:latin typeface="Carlito"/>
                <a:cs typeface="Carlito"/>
              </a:rPr>
              <a:t>the </a:t>
            </a:r>
            <a:r>
              <a:rPr lang="en-US" b="1" spc="-5" dirty="0" smtClean="0">
                <a:solidFill>
                  <a:srgbClr val="FF0000"/>
                </a:solidFill>
                <a:latin typeface="Carlito"/>
                <a:cs typeface="Carlito"/>
              </a:rPr>
              <a:t>&lt;li&gt;</a:t>
            </a:r>
            <a:r>
              <a:rPr lang="en-US" b="1" spc="185" dirty="0" smtClean="0">
                <a:solidFill>
                  <a:srgbClr val="FF0000"/>
                </a:solidFill>
                <a:latin typeface="Carlito"/>
                <a:cs typeface="Carlito"/>
              </a:rPr>
              <a:t> </a:t>
            </a:r>
            <a:r>
              <a:rPr lang="en-US" spc="-10" dirty="0" smtClean="0">
                <a:latin typeface="Carlito"/>
                <a:cs typeface="Carlito"/>
              </a:rPr>
              <a:t>tag.</a:t>
            </a:r>
            <a:endParaRPr lang="en-US" dirty="0" smtClean="0">
              <a:latin typeface="Carlito"/>
              <a:cs typeface="Carlito"/>
            </a:endParaRPr>
          </a:p>
          <a:p>
            <a:pPr marL="355600" indent="-342900">
              <a:lnSpc>
                <a:spcPct val="100000"/>
              </a:lnSpc>
              <a:buClr>
                <a:srgbClr val="FF0000"/>
              </a:buClr>
              <a:buFont typeface="Wingdings"/>
              <a:buChar char=""/>
              <a:tabLst>
                <a:tab pos="354965" algn="l"/>
                <a:tab pos="355600" algn="l"/>
              </a:tabLst>
            </a:pPr>
            <a:r>
              <a:rPr lang="en-US" spc="-5" dirty="0" smtClean="0">
                <a:latin typeface="Carlito"/>
                <a:cs typeface="Carlito"/>
              </a:rPr>
              <a:t>The </a:t>
            </a:r>
            <a:r>
              <a:rPr lang="en-US" spc="-10" dirty="0" smtClean="0">
                <a:latin typeface="Carlito"/>
                <a:cs typeface="Carlito"/>
              </a:rPr>
              <a:t>list items </a:t>
            </a:r>
            <a:r>
              <a:rPr lang="en-US" spc="-5" dirty="0" smtClean="0">
                <a:latin typeface="Carlito"/>
                <a:cs typeface="Carlito"/>
              </a:rPr>
              <a:t>will be </a:t>
            </a:r>
            <a:r>
              <a:rPr lang="en-US" spc="-15" dirty="0" smtClean="0">
                <a:latin typeface="Carlito"/>
                <a:cs typeface="Carlito"/>
              </a:rPr>
              <a:t>marked </a:t>
            </a:r>
            <a:r>
              <a:rPr lang="en-US" spc="-5" dirty="0" smtClean="0">
                <a:latin typeface="Carlito"/>
                <a:cs typeface="Carlito"/>
              </a:rPr>
              <a:t>with bullets </a:t>
            </a:r>
            <a:r>
              <a:rPr lang="en-US" dirty="0" smtClean="0">
                <a:latin typeface="Carlito"/>
                <a:cs typeface="Carlito"/>
              </a:rPr>
              <a:t>(</a:t>
            </a:r>
            <a:r>
              <a:rPr lang="en-US" dirty="0" smtClean="0">
                <a:solidFill>
                  <a:srgbClr val="FF0000"/>
                </a:solidFill>
                <a:latin typeface="Carlito"/>
                <a:cs typeface="Carlito"/>
              </a:rPr>
              <a:t>small </a:t>
            </a:r>
            <a:r>
              <a:rPr lang="en-US" spc="-5" dirty="0" smtClean="0">
                <a:solidFill>
                  <a:srgbClr val="FF0000"/>
                </a:solidFill>
                <a:latin typeface="Carlito"/>
                <a:cs typeface="Carlito"/>
              </a:rPr>
              <a:t>black</a:t>
            </a:r>
            <a:r>
              <a:rPr lang="en-US" spc="135" dirty="0" smtClean="0">
                <a:solidFill>
                  <a:srgbClr val="FF0000"/>
                </a:solidFill>
                <a:latin typeface="Carlito"/>
                <a:cs typeface="Carlito"/>
              </a:rPr>
              <a:t> </a:t>
            </a:r>
            <a:r>
              <a:rPr lang="en-US" spc="-10" dirty="0" smtClean="0">
                <a:solidFill>
                  <a:srgbClr val="FF0000"/>
                </a:solidFill>
                <a:latin typeface="Carlito"/>
                <a:cs typeface="Carlito"/>
              </a:rPr>
              <a:t>circles</a:t>
            </a:r>
            <a:r>
              <a:rPr lang="en-US" spc="-10" dirty="0" smtClean="0">
                <a:latin typeface="Carlito"/>
                <a:cs typeface="Carlito"/>
              </a:rPr>
              <a:t>).</a:t>
            </a:r>
            <a:endParaRPr lang="en-US" dirty="0" smtClean="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lang="en-US" dirty="0" smtClean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US" b="1" spc="-25" dirty="0" smtClean="0">
                <a:solidFill>
                  <a:srgbClr val="FF0000"/>
                </a:solidFill>
                <a:latin typeface="Arial"/>
                <a:cs typeface="Arial"/>
              </a:rPr>
              <a:t>Example:</a:t>
            </a:r>
            <a:endParaRPr lang="en-US" dirty="0" smtClean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lang="en-US" sz="3200" dirty="0" smtClean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US" spc="-5" dirty="0" smtClean="0">
                <a:latin typeface="Carlito"/>
                <a:cs typeface="Carlito"/>
              </a:rPr>
              <a:t>&lt;!DOCTYPE</a:t>
            </a:r>
            <a:r>
              <a:rPr lang="en-US" dirty="0" smtClean="0">
                <a:latin typeface="Carlito"/>
                <a:cs typeface="Carlito"/>
              </a:rPr>
              <a:t> </a:t>
            </a:r>
            <a:r>
              <a:rPr lang="en-US" spc="-5" dirty="0" smtClean="0">
                <a:latin typeface="Carlito"/>
                <a:cs typeface="Carlito"/>
              </a:rPr>
              <a:t>html&gt;</a:t>
            </a:r>
            <a:endParaRPr lang="en-US" dirty="0" smtClean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lang="en-US" spc="-5" dirty="0" smtClean="0">
                <a:latin typeface="Carlito"/>
                <a:cs typeface="Carlito"/>
              </a:rPr>
              <a:t>&lt;html&gt;</a:t>
            </a:r>
            <a:endParaRPr lang="en-US" dirty="0" smtClean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lang="en-US" spc="-5" dirty="0" smtClean="0">
                <a:latin typeface="Carlito"/>
                <a:cs typeface="Carlito"/>
              </a:rPr>
              <a:t>&lt;body&gt;</a:t>
            </a:r>
            <a:endParaRPr lang="en-US" dirty="0" smtClean="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lang="en-US" dirty="0" smtClean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lang="en-US" spc="-5" dirty="0" smtClean="0">
                <a:latin typeface="Carlito"/>
                <a:cs typeface="Carlito"/>
              </a:rPr>
              <a:t>&lt;h2&gt;Unordered </a:t>
            </a:r>
            <a:r>
              <a:rPr lang="en-US" spc="-10" dirty="0" smtClean="0">
                <a:latin typeface="Carlito"/>
                <a:cs typeface="Carlito"/>
              </a:rPr>
              <a:t>List </a:t>
            </a:r>
            <a:r>
              <a:rPr lang="en-US" spc="-5" dirty="0" smtClean="0">
                <a:latin typeface="Carlito"/>
                <a:cs typeface="Carlito"/>
              </a:rPr>
              <a:t>with </a:t>
            </a:r>
            <a:r>
              <a:rPr lang="en-US" spc="-10" dirty="0" smtClean="0">
                <a:latin typeface="Carlito"/>
                <a:cs typeface="Carlito"/>
              </a:rPr>
              <a:t>Default</a:t>
            </a:r>
            <a:r>
              <a:rPr lang="en-US" spc="60" dirty="0" smtClean="0">
                <a:latin typeface="Carlito"/>
                <a:cs typeface="Carlito"/>
              </a:rPr>
              <a:t> </a:t>
            </a:r>
            <a:r>
              <a:rPr lang="en-US" spc="-5" dirty="0" smtClean="0">
                <a:latin typeface="Carlito"/>
                <a:cs typeface="Carlito"/>
              </a:rPr>
              <a:t>Bullets&lt;/h2&gt;</a:t>
            </a:r>
            <a:endParaRPr lang="en-US" dirty="0" smtClean="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lang="en-US" dirty="0" smtClean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lang="en-US" spc="-5" dirty="0" smtClean="0">
                <a:latin typeface="Carlito"/>
                <a:cs typeface="Carlito"/>
              </a:rPr>
              <a:t>&lt;</a:t>
            </a:r>
            <a:r>
              <a:rPr lang="en-US" spc="-5" dirty="0" err="1" smtClean="0">
                <a:latin typeface="Carlito"/>
                <a:cs typeface="Carlito"/>
              </a:rPr>
              <a:t>ul</a:t>
            </a:r>
            <a:r>
              <a:rPr lang="en-US" spc="-5" dirty="0" smtClean="0">
                <a:latin typeface="Carlito"/>
                <a:cs typeface="Carlito"/>
              </a:rPr>
              <a:t>&gt;</a:t>
            </a:r>
            <a:endParaRPr lang="en-US" dirty="0" smtClean="0">
              <a:latin typeface="Carlito"/>
              <a:cs typeface="Carlito"/>
            </a:endParaRPr>
          </a:p>
          <a:p>
            <a:pPr marL="117475">
              <a:lnSpc>
                <a:spcPct val="100000"/>
              </a:lnSpc>
            </a:pPr>
            <a:r>
              <a:rPr lang="en-US" spc="-10" dirty="0" smtClean="0">
                <a:latin typeface="Carlito"/>
                <a:cs typeface="Carlito"/>
              </a:rPr>
              <a:t>&lt;li&gt;Coffee&lt;/li&gt;</a:t>
            </a:r>
            <a:endParaRPr lang="en-US" dirty="0" smtClean="0">
              <a:latin typeface="Carlito"/>
              <a:cs typeface="Carlito"/>
            </a:endParaRPr>
          </a:p>
          <a:p>
            <a:pPr marL="117475">
              <a:lnSpc>
                <a:spcPct val="100000"/>
              </a:lnSpc>
            </a:pPr>
            <a:r>
              <a:rPr lang="en-US" spc="-20" dirty="0" smtClean="0">
                <a:latin typeface="Carlito"/>
                <a:cs typeface="Carlito"/>
              </a:rPr>
              <a:t>&lt;li&gt;Tea&lt;/li&gt;</a:t>
            </a:r>
            <a:endParaRPr lang="en-US" dirty="0" smtClean="0">
              <a:latin typeface="Carlito"/>
              <a:cs typeface="Carlito"/>
            </a:endParaRPr>
          </a:p>
          <a:p>
            <a:pPr marL="117475">
              <a:lnSpc>
                <a:spcPct val="100000"/>
              </a:lnSpc>
              <a:spcBef>
                <a:spcPts val="5"/>
              </a:spcBef>
            </a:pPr>
            <a:r>
              <a:rPr lang="en-US" spc="-5" dirty="0" smtClean="0">
                <a:latin typeface="Carlito"/>
                <a:cs typeface="Carlito"/>
              </a:rPr>
              <a:t>&lt;li&gt;Milk&lt;/li&gt;</a:t>
            </a:r>
            <a:endParaRPr lang="en-US" dirty="0" smtClean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lang="en-US" spc="-5" dirty="0" smtClean="0">
                <a:latin typeface="Carlito"/>
                <a:cs typeface="Carlito"/>
              </a:rPr>
              <a:t>&lt;/</a:t>
            </a:r>
            <a:r>
              <a:rPr lang="en-US" spc="-5" dirty="0" err="1" smtClean="0">
                <a:latin typeface="Carlito"/>
                <a:cs typeface="Carlito"/>
              </a:rPr>
              <a:t>ul</a:t>
            </a:r>
            <a:r>
              <a:rPr lang="en-US" spc="-5" dirty="0" smtClean="0">
                <a:latin typeface="Carlito"/>
                <a:cs typeface="Carlito"/>
              </a:rPr>
              <a:t>&gt;</a:t>
            </a:r>
            <a:endParaRPr lang="en-US" dirty="0" smtClean="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lang="en-US" dirty="0" smtClean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lang="en-US" spc="-5" dirty="0" smtClean="0">
                <a:latin typeface="Carlito"/>
                <a:cs typeface="Carlito"/>
              </a:rPr>
              <a:t>&lt;/body&gt;</a:t>
            </a:r>
            <a:endParaRPr lang="en-US" dirty="0" smtClean="0">
              <a:latin typeface="Carlito"/>
              <a:cs typeface="Carlito"/>
            </a:endParaRPr>
          </a:p>
          <a:p>
            <a:endParaRPr lang="en-US" dirty="0"/>
          </a:p>
        </p:txBody>
      </p:sp>
      <p:sp>
        <p:nvSpPr>
          <p:cNvPr id="4" name="object 4"/>
          <p:cNvSpPr/>
          <p:nvPr/>
        </p:nvSpPr>
        <p:spPr>
          <a:xfrm>
            <a:off x="4088264" y="2875129"/>
            <a:ext cx="6007100" cy="17430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25908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25" dirty="0" smtClean="0"/>
              <a:t>Unordered </a:t>
            </a:r>
            <a:r>
              <a:rPr lang="en-US" spc="-185" dirty="0" smtClean="0"/>
              <a:t>HTML </a:t>
            </a:r>
            <a:r>
              <a:rPr lang="en-US" spc="-300" dirty="0" smtClean="0"/>
              <a:t>Lists </a:t>
            </a:r>
            <a:r>
              <a:rPr lang="en-US" spc="-114" dirty="0" smtClean="0"/>
              <a:t>- </a:t>
            </a:r>
            <a:r>
              <a:rPr lang="en-US" spc="-204" dirty="0" smtClean="0"/>
              <a:t>The </a:t>
            </a:r>
            <a:r>
              <a:rPr lang="en-US" spc="-40" dirty="0" smtClean="0"/>
              <a:t>Style  </a:t>
            </a:r>
            <a:r>
              <a:rPr lang="en-US" spc="-5" dirty="0" smtClean="0"/>
              <a:t>Attribute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Carlito"/>
                <a:cs typeface="Carlito"/>
              </a:rPr>
              <a:t>A </a:t>
            </a:r>
            <a:r>
              <a:rPr lang="en-US" b="1" spc="-5" dirty="0" smtClean="0">
                <a:solidFill>
                  <a:srgbClr val="FF0000"/>
                </a:solidFill>
                <a:latin typeface="Carlito"/>
                <a:cs typeface="Carlito"/>
              </a:rPr>
              <a:t>style </a:t>
            </a:r>
            <a:r>
              <a:rPr lang="en-US" spc="-20" dirty="0" smtClean="0">
                <a:latin typeface="Carlito"/>
                <a:cs typeface="Carlito"/>
              </a:rPr>
              <a:t>attribute </a:t>
            </a:r>
            <a:r>
              <a:rPr lang="en-US" spc="-10" dirty="0" smtClean="0">
                <a:latin typeface="Carlito"/>
                <a:cs typeface="Carlito"/>
              </a:rPr>
              <a:t>can </a:t>
            </a:r>
            <a:r>
              <a:rPr lang="en-US" spc="-5" dirty="0" smtClean="0">
                <a:latin typeface="Carlito"/>
                <a:cs typeface="Carlito"/>
              </a:rPr>
              <a:t>be </a:t>
            </a:r>
            <a:r>
              <a:rPr lang="en-US" dirty="0" smtClean="0">
                <a:latin typeface="Carlito"/>
                <a:cs typeface="Carlito"/>
              </a:rPr>
              <a:t>added </a:t>
            </a:r>
            <a:r>
              <a:rPr lang="en-US" spc="-20" dirty="0" smtClean="0">
                <a:latin typeface="Carlito"/>
                <a:cs typeface="Carlito"/>
              </a:rPr>
              <a:t>to </a:t>
            </a:r>
            <a:r>
              <a:rPr lang="en-US" dirty="0" smtClean="0">
                <a:latin typeface="Carlito"/>
                <a:cs typeface="Carlito"/>
              </a:rPr>
              <a:t>an </a:t>
            </a:r>
            <a:r>
              <a:rPr lang="en-US" dirty="0" smtClean="0">
                <a:solidFill>
                  <a:srgbClr val="FF0000"/>
                </a:solidFill>
                <a:latin typeface="Carlito"/>
                <a:cs typeface="Carlito"/>
              </a:rPr>
              <a:t> </a:t>
            </a:r>
            <a:r>
              <a:rPr lang="en-US" b="1" spc="-10" dirty="0" smtClean="0">
                <a:solidFill>
                  <a:srgbClr val="FF0000"/>
                </a:solidFill>
                <a:latin typeface="Carlito"/>
                <a:cs typeface="Carlito"/>
              </a:rPr>
              <a:t>unordered </a:t>
            </a:r>
            <a:r>
              <a:rPr lang="en-US" b="1" spc="-5" dirty="0" smtClean="0">
                <a:solidFill>
                  <a:srgbClr val="FF0000"/>
                </a:solidFill>
                <a:latin typeface="Carlito"/>
                <a:cs typeface="Carlito"/>
              </a:rPr>
              <a:t>list</a:t>
            </a:r>
            <a:r>
              <a:rPr lang="en-US" spc="-5" dirty="0" smtClean="0">
                <a:latin typeface="Carlito"/>
                <a:cs typeface="Carlito"/>
              </a:rPr>
              <a:t>, </a:t>
            </a:r>
            <a:r>
              <a:rPr lang="en-US" spc="-20" dirty="0" smtClean="0">
                <a:latin typeface="Carlito"/>
                <a:cs typeface="Carlito"/>
              </a:rPr>
              <a:t>to </a:t>
            </a:r>
            <a:r>
              <a:rPr lang="en-US" spc="-10" dirty="0" smtClean="0">
                <a:latin typeface="Carlito"/>
                <a:cs typeface="Carlito"/>
              </a:rPr>
              <a:t>define </a:t>
            </a:r>
            <a:r>
              <a:rPr lang="en-US" dirty="0" smtClean="0">
                <a:latin typeface="Carlito"/>
                <a:cs typeface="Carlito"/>
              </a:rPr>
              <a:t>the </a:t>
            </a:r>
            <a:r>
              <a:rPr lang="en-US" spc="-10" dirty="0" smtClean="0">
                <a:latin typeface="Carlito"/>
                <a:cs typeface="Carlito"/>
              </a:rPr>
              <a:t>style </a:t>
            </a:r>
            <a:r>
              <a:rPr lang="en-US" dirty="0" smtClean="0">
                <a:latin typeface="Carlito"/>
                <a:cs typeface="Carlito"/>
              </a:rPr>
              <a:t>of </a:t>
            </a:r>
            <a:r>
              <a:rPr lang="en-US" spc="-5" dirty="0" smtClean="0">
                <a:latin typeface="Carlito"/>
                <a:cs typeface="Carlito"/>
              </a:rPr>
              <a:t>the  </a:t>
            </a:r>
            <a:r>
              <a:rPr lang="en-US" spc="-15" dirty="0" smtClean="0">
                <a:latin typeface="Carlito"/>
                <a:cs typeface="Carlito"/>
              </a:rPr>
              <a:t>marker:</a:t>
            </a:r>
            <a:endParaRPr lang="en-US" dirty="0" smtClean="0">
              <a:latin typeface="Carlito"/>
              <a:cs typeface="Carlito"/>
            </a:endParaRPr>
          </a:p>
          <a:p>
            <a:endParaRPr lang="en-US" dirty="0"/>
          </a:p>
        </p:txBody>
      </p:sp>
      <p:sp>
        <p:nvSpPr>
          <p:cNvPr id="4" name="object 4"/>
          <p:cNvSpPr/>
          <p:nvPr/>
        </p:nvSpPr>
        <p:spPr>
          <a:xfrm>
            <a:off x="801710" y="3704705"/>
            <a:ext cx="10785769" cy="234194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38930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70" dirty="0" smtClean="0"/>
              <a:t>Ordered </a:t>
            </a:r>
            <a:r>
              <a:rPr lang="en-US" spc="-185" dirty="0" smtClean="0"/>
              <a:t>HTML</a:t>
            </a:r>
            <a:r>
              <a:rPr lang="en-US" spc="-120" dirty="0" smtClean="0"/>
              <a:t> </a:t>
            </a:r>
            <a:r>
              <a:rPr lang="en-US" spc="-300" dirty="0" smtClean="0"/>
              <a:t>Lists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355600" indent="-343535">
              <a:lnSpc>
                <a:spcPct val="100000"/>
              </a:lnSpc>
              <a:spcBef>
                <a:spcPts val="100"/>
              </a:spcBef>
              <a:buClr>
                <a:srgbClr val="FF0000"/>
              </a:buClr>
              <a:buFont typeface="Wingdings"/>
              <a:buChar char=""/>
              <a:tabLst>
                <a:tab pos="355600" algn="l"/>
                <a:tab pos="356235" algn="l"/>
              </a:tabLst>
            </a:pPr>
            <a:r>
              <a:rPr lang="en-US" dirty="0" smtClean="0">
                <a:latin typeface="Carlito"/>
                <a:cs typeface="Carlito"/>
              </a:rPr>
              <a:t>An </a:t>
            </a:r>
            <a:r>
              <a:rPr lang="en-US" spc="-10" dirty="0" smtClean="0">
                <a:latin typeface="Carlito"/>
                <a:cs typeface="Carlito"/>
              </a:rPr>
              <a:t>ordered list starts </a:t>
            </a:r>
            <a:r>
              <a:rPr lang="en-US" spc="-5" dirty="0" smtClean="0">
                <a:latin typeface="Carlito"/>
                <a:cs typeface="Carlito"/>
              </a:rPr>
              <a:t>with </a:t>
            </a:r>
            <a:r>
              <a:rPr lang="en-US" dirty="0" smtClean="0">
                <a:latin typeface="Carlito"/>
                <a:cs typeface="Carlito"/>
              </a:rPr>
              <a:t>the </a:t>
            </a:r>
            <a:r>
              <a:rPr lang="en-US" b="1" dirty="0" smtClean="0">
                <a:solidFill>
                  <a:srgbClr val="FF0000"/>
                </a:solidFill>
                <a:latin typeface="Carlito"/>
                <a:cs typeface="Carlito"/>
              </a:rPr>
              <a:t>&lt;</a:t>
            </a:r>
            <a:r>
              <a:rPr lang="en-US" b="1" dirty="0" err="1" smtClean="0">
                <a:solidFill>
                  <a:srgbClr val="FF0000"/>
                </a:solidFill>
                <a:latin typeface="Carlito"/>
                <a:cs typeface="Carlito"/>
              </a:rPr>
              <a:t>ol</a:t>
            </a:r>
            <a:r>
              <a:rPr lang="en-US" b="1" dirty="0" smtClean="0">
                <a:solidFill>
                  <a:srgbClr val="FF0000"/>
                </a:solidFill>
                <a:latin typeface="Carlito"/>
                <a:cs typeface="Carlito"/>
              </a:rPr>
              <a:t>&gt; </a:t>
            </a:r>
            <a:r>
              <a:rPr lang="en-US" spc="-10" dirty="0" smtClean="0">
                <a:latin typeface="Carlito"/>
                <a:cs typeface="Carlito"/>
              </a:rPr>
              <a:t>tag. Each list item starts </a:t>
            </a:r>
            <a:r>
              <a:rPr lang="en-US" spc="-5" dirty="0" smtClean="0">
                <a:latin typeface="Carlito"/>
                <a:cs typeface="Carlito"/>
              </a:rPr>
              <a:t>with </a:t>
            </a:r>
            <a:r>
              <a:rPr lang="en-US" dirty="0" smtClean="0">
                <a:latin typeface="Carlito"/>
                <a:cs typeface="Carlito"/>
              </a:rPr>
              <a:t>the </a:t>
            </a:r>
            <a:r>
              <a:rPr lang="en-US" b="1" spc="-5" dirty="0" smtClean="0">
                <a:solidFill>
                  <a:srgbClr val="FF0000"/>
                </a:solidFill>
                <a:latin typeface="Carlito"/>
                <a:cs typeface="Carlito"/>
              </a:rPr>
              <a:t>&lt;li&gt;</a:t>
            </a:r>
            <a:r>
              <a:rPr lang="en-US" b="1" spc="155" dirty="0" smtClean="0">
                <a:solidFill>
                  <a:srgbClr val="FF0000"/>
                </a:solidFill>
                <a:latin typeface="Carlito"/>
                <a:cs typeface="Carlito"/>
              </a:rPr>
              <a:t> </a:t>
            </a:r>
            <a:r>
              <a:rPr lang="en-US" spc="-10" dirty="0" smtClean="0">
                <a:latin typeface="Carlito"/>
                <a:cs typeface="Carlito"/>
              </a:rPr>
              <a:t>tag.</a:t>
            </a:r>
            <a:endParaRPr lang="en-US" dirty="0" smtClean="0">
              <a:latin typeface="Carlito"/>
              <a:cs typeface="Carlito"/>
            </a:endParaRPr>
          </a:p>
          <a:p>
            <a:pPr marL="355600" indent="-343535">
              <a:lnSpc>
                <a:spcPts val="2155"/>
              </a:lnSpc>
              <a:buClr>
                <a:srgbClr val="FF0000"/>
              </a:buClr>
              <a:buFont typeface="Wingdings"/>
              <a:buChar char=""/>
              <a:tabLst>
                <a:tab pos="355600" algn="l"/>
                <a:tab pos="356235" algn="l"/>
              </a:tabLst>
            </a:pPr>
            <a:r>
              <a:rPr lang="en-US" spc="-5" dirty="0" smtClean="0">
                <a:latin typeface="Carlito"/>
                <a:cs typeface="Carlito"/>
              </a:rPr>
              <a:t>The </a:t>
            </a:r>
            <a:r>
              <a:rPr lang="en-US" spc="-10" dirty="0" smtClean="0">
                <a:latin typeface="Carlito"/>
                <a:cs typeface="Carlito"/>
              </a:rPr>
              <a:t>list items </a:t>
            </a:r>
            <a:r>
              <a:rPr lang="en-US" spc="-5" dirty="0" smtClean="0">
                <a:latin typeface="Carlito"/>
                <a:cs typeface="Carlito"/>
              </a:rPr>
              <a:t>will be </a:t>
            </a:r>
            <a:r>
              <a:rPr lang="en-US" spc="-15" dirty="0" smtClean="0">
                <a:latin typeface="Carlito"/>
                <a:cs typeface="Carlito"/>
              </a:rPr>
              <a:t>marked </a:t>
            </a:r>
            <a:r>
              <a:rPr lang="en-US" spc="-5" dirty="0" smtClean="0">
                <a:latin typeface="Carlito"/>
                <a:cs typeface="Carlito"/>
              </a:rPr>
              <a:t>with</a:t>
            </a:r>
            <a:r>
              <a:rPr lang="en-US" spc="100" dirty="0" smtClean="0">
                <a:latin typeface="Carlito"/>
                <a:cs typeface="Carlito"/>
              </a:rPr>
              <a:t> </a:t>
            </a:r>
            <a:r>
              <a:rPr lang="en-US" spc="-5" dirty="0" smtClean="0">
                <a:latin typeface="Carlito"/>
                <a:cs typeface="Carlito"/>
              </a:rPr>
              <a:t>numbers:</a:t>
            </a:r>
            <a:endParaRPr lang="en-US" dirty="0" smtClean="0">
              <a:latin typeface="Carlito"/>
              <a:cs typeface="Carlito"/>
            </a:endParaRPr>
          </a:p>
          <a:p>
            <a:pPr marL="12700">
              <a:lnSpc>
                <a:spcPts val="2155"/>
              </a:lnSpc>
            </a:pPr>
            <a:r>
              <a:rPr lang="en-US" b="1" dirty="0" smtClean="0">
                <a:solidFill>
                  <a:srgbClr val="FF0000"/>
                </a:solidFill>
                <a:latin typeface="Trebuchet MS"/>
                <a:cs typeface="Trebuchet MS"/>
              </a:rPr>
              <a:t>Example:</a:t>
            </a:r>
            <a:endParaRPr lang="en-US" dirty="0" smtClean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lang="en-US" spc="-5" dirty="0" smtClean="0">
                <a:latin typeface="Carlito"/>
                <a:cs typeface="Carlito"/>
              </a:rPr>
              <a:t>&lt;!DOCTYPE</a:t>
            </a:r>
            <a:r>
              <a:rPr lang="en-US" dirty="0" smtClean="0">
                <a:latin typeface="Carlito"/>
                <a:cs typeface="Carlito"/>
              </a:rPr>
              <a:t> </a:t>
            </a:r>
            <a:r>
              <a:rPr lang="en-US" spc="-5" dirty="0" smtClean="0">
                <a:latin typeface="Carlito"/>
                <a:cs typeface="Carlito"/>
              </a:rPr>
              <a:t>html&gt;</a:t>
            </a:r>
            <a:endParaRPr lang="en-US" dirty="0" smtClean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lang="en-US" spc="-5" dirty="0" smtClean="0">
                <a:latin typeface="Carlito"/>
                <a:cs typeface="Carlito"/>
              </a:rPr>
              <a:t>&lt;html&gt;</a:t>
            </a:r>
            <a:endParaRPr lang="en-US" dirty="0" smtClean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lang="en-US" spc="-5" dirty="0" smtClean="0">
                <a:latin typeface="Carlito"/>
                <a:cs typeface="Carlito"/>
              </a:rPr>
              <a:t>&lt;body&gt;</a:t>
            </a:r>
            <a:endParaRPr lang="en-US" dirty="0" smtClean="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lang="en-US" dirty="0" smtClean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lang="en-US" spc="-10" dirty="0" smtClean="0">
                <a:latin typeface="Carlito"/>
                <a:cs typeface="Carlito"/>
              </a:rPr>
              <a:t>&lt;h2&gt;Ordered</a:t>
            </a:r>
            <a:r>
              <a:rPr lang="en-US" spc="10" dirty="0" smtClean="0">
                <a:latin typeface="Carlito"/>
                <a:cs typeface="Carlito"/>
              </a:rPr>
              <a:t> </a:t>
            </a:r>
            <a:r>
              <a:rPr lang="en-US" spc="-5" dirty="0" smtClean="0">
                <a:latin typeface="Carlito"/>
                <a:cs typeface="Carlito"/>
              </a:rPr>
              <a:t>List&lt;/h2&gt;</a:t>
            </a:r>
            <a:endParaRPr lang="en-US" dirty="0" smtClean="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lang="en-US" dirty="0" smtClean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lang="en-US" spc="-5" dirty="0" smtClean="0">
                <a:latin typeface="Carlito"/>
                <a:cs typeface="Carlito"/>
              </a:rPr>
              <a:t>&lt;</a:t>
            </a:r>
            <a:r>
              <a:rPr lang="en-US" spc="-5" dirty="0" err="1" smtClean="0">
                <a:latin typeface="Carlito"/>
                <a:cs typeface="Carlito"/>
              </a:rPr>
              <a:t>ol</a:t>
            </a:r>
            <a:r>
              <a:rPr lang="en-US" spc="-5" dirty="0" smtClean="0">
                <a:latin typeface="Carlito"/>
                <a:cs typeface="Carlito"/>
              </a:rPr>
              <a:t>&gt;</a:t>
            </a:r>
            <a:endParaRPr lang="en-US" dirty="0" smtClean="0">
              <a:latin typeface="Carlito"/>
              <a:cs typeface="Carlito"/>
            </a:endParaRPr>
          </a:p>
          <a:p>
            <a:pPr marL="117475">
              <a:lnSpc>
                <a:spcPct val="100000"/>
              </a:lnSpc>
            </a:pPr>
            <a:r>
              <a:rPr lang="en-US" spc="-10" dirty="0" smtClean="0">
                <a:latin typeface="Carlito"/>
                <a:cs typeface="Carlito"/>
              </a:rPr>
              <a:t>&lt;li&gt;Coffee&lt;/li&gt;</a:t>
            </a:r>
            <a:endParaRPr lang="en-US" dirty="0" smtClean="0">
              <a:latin typeface="Carlito"/>
              <a:cs typeface="Carlito"/>
            </a:endParaRPr>
          </a:p>
          <a:p>
            <a:pPr marL="117475">
              <a:lnSpc>
                <a:spcPct val="100000"/>
              </a:lnSpc>
            </a:pPr>
            <a:r>
              <a:rPr lang="en-US" spc="-20" dirty="0" smtClean="0">
                <a:latin typeface="Carlito"/>
                <a:cs typeface="Carlito"/>
              </a:rPr>
              <a:t>&lt;li&gt;Tea&lt;/li&gt;</a:t>
            </a:r>
            <a:endParaRPr lang="en-US" dirty="0" smtClean="0">
              <a:latin typeface="Carlito"/>
              <a:cs typeface="Carlito"/>
            </a:endParaRPr>
          </a:p>
          <a:p>
            <a:pPr marL="117475">
              <a:lnSpc>
                <a:spcPct val="100000"/>
              </a:lnSpc>
              <a:spcBef>
                <a:spcPts val="5"/>
              </a:spcBef>
            </a:pPr>
            <a:r>
              <a:rPr lang="en-US" spc="-5" dirty="0" smtClean="0">
                <a:latin typeface="Carlito"/>
                <a:cs typeface="Carlito"/>
              </a:rPr>
              <a:t>&lt;li&gt;Milk&lt;/li&gt;</a:t>
            </a:r>
            <a:endParaRPr lang="en-US" dirty="0" smtClean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lang="en-US" spc="-10" dirty="0" smtClean="0">
                <a:latin typeface="Carlito"/>
                <a:cs typeface="Carlito"/>
              </a:rPr>
              <a:t>&lt;/</a:t>
            </a:r>
            <a:r>
              <a:rPr lang="en-US" spc="-10" dirty="0" err="1" smtClean="0">
                <a:latin typeface="Carlito"/>
                <a:cs typeface="Carlito"/>
              </a:rPr>
              <a:t>ol</a:t>
            </a:r>
            <a:r>
              <a:rPr lang="en-US" spc="-10" dirty="0" smtClean="0">
                <a:latin typeface="Carlito"/>
                <a:cs typeface="Carlito"/>
              </a:rPr>
              <a:t>&gt;</a:t>
            </a:r>
            <a:endParaRPr lang="en-US" dirty="0" smtClean="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lang="en-US" dirty="0" smtClean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lang="en-US" spc="-5" dirty="0" smtClean="0">
                <a:latin typeface="Carlito"/>
                <a:cs typeface="Carlito"/>
              </a:rPr>
              <a:t>&lt;/body&gt;</a:t>
            </a:r>
            <a:endParaRPr lang="en-US" dirty="0" smtClean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lang="en-US" spc="-5" dirty="0" smtClean="0">
                <a:latin typeface="Carlito"/>
                <a:cs typeface="Carlito"/>
              </a:rPr>
              <a:t>&lt;/html&gt;</a:t>
            </a:r>
            <a:endParaRPr lang="en-US" dirty="0" smtClean="0">
              <a:latin typeface="Carlito"/>
              <a:cs typeface="Carlito"/>
            </a:endParaRPr>
          </a:p>
          <a:p>
            <a:endParaRPr lang="en-US" dirty="0"/>
          </a:p>
        </p:txBody>
      </p:sp>
      <p:sp>
        <p:nvSpPr>
          <p:cNvPr id="4" name="object 4"/>
          <p:cNvSpPr/>
          <p:nvPr/>
        </p:nvSpPr>
        <p:spPr>
          <a:xfrm>
            <a:off x="7112001" y="3886201"/>
            <a:ext cx="2679700" cy="18954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45884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40" dirty="0">
                <a:latin typeface="Trebuchet MS"/>
                <a:cs typeface="Trebuchet MS"/>
              </a:rPr>
              <a:t>Continue</a:t>
            </a:r>
            <a:endParaRPr lang="en-US" dirty="0"/>
          </a:p>
        </p:txBody>
      </p:sp>
      <p:sp>
        <p:nvSpPr>
          <p:cNvPr id="4" name="object 3"/>
          <p:cNvSpPr>
            <a:spLocks noGrp="1"/>
          </p:cNvSpPr>
          <p:nvPr>
            <p:ph idx="1"/>
          </p:nvPr>
        </p:nvSpPr>
        <p:spPr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r>
              <a:rPr lang="en-US" dirty="0" smtClean="0"/>
              <a:t> 	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3443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185" dirty="0" smtClean="0"/>
              <a:t>HTML </a:t>
            </a:r>
            <a:r>
              <a:rPr lang="en-US" spc="-90" dirty="0" smtClean="0"/>
              <a:t>Description</a:t>
            </a:r>
            <a:r>
              <a:rPr lang="en-US" spc="120" dirty="0" smtClean="0"/>
              <a:t> </a:t>
            </a:r>
            <a:r>
              <a:rPr lang="en-US" spc="-300" dirty="0" smtClean="0"/>
              <a:t>Lists 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75920" indent="-363855">
              <a:lnSpc>
                <a:spcPct val="100000"/>
              </a:lnSpc>
              <a:spcBef>
                <a:spcPts val="865"/>
              </a:spcBef>
              <a:buClr>
                <a:srgbClr val="FF0000"/>
              </a:buClr>
              <a:buSzPct val="96875"/>
              <a:buFont typeface="Wingdings"/>
              <a:buChar char=""/>
              <a:tabLst>
                <a:tab pos="376555" algn="l"/>
              </a:tabLst>
            </a:pPr>
            <a:r>
              <a:rPr lang="en-US" spc="-5" dirty="0" smtClean="0">
                <a:latin typeface="Carlito"/>
                <a:cs typeface="Carlito"/>
              </a:rPr>
              <a:t>HTML </a:t>
            </a:r>
            <a:r>
              <a:rPr lang="en-US" dirty="0" smtClean="0">
                <a:latin typeface="Carlito"/>
                <a:cs typeface="Carlito"/>
              </a:rPr>
              <a:t>also </a:t>
            </a:r>
            <a:r>
              <a:rPr lang="en-US" spc="-5" dirty="0" smtClean="0">
                <a:latin typeface="Carlito"/>
                <a:cs typeface="Carlito"/>
              </a:rPr>
              <a:t>supports description</a:t>
            </a:r>
            <a:r>
              <a:rPr lang="en-US" spc="30" dirty="0" smtClean="0">
                <a:latin typeface="Carlito"/>
                <a:cs typeface="Carlito"/>
              </a:rPr>
              <a:t> </a:t>
            </a:r>
            <a:r>
              <a:rPr lang="en-US" spc="-10" dirty="0" smtClean="0">
                <a:latin typeface="Carlito"/>
                <a:cs typeface="Carlito"/>
              </a:rPr>
              <a:t>lists.</a:t>
            </a:r>
            <a:endParaRPr lang="en-US" dirty="0" smtClean="0">
              <a:latin typeface="Carlito"/>
              <a:cs typeface="Carlito"/>
            </a:endParaRPr>
          </a:p>
          <a:p>
            <a:pPr marL="355600" marR="595630" indent="-343535">
              <a:lnSpc>
                <a:spcPct val="100000"/>
              </a:lnSpc>
              <a:spcBef>
                <a:spcPts val="770"/>
              </a:spcBef>
              <a:buClr>
                <a:srgbClr val="FF0000"/>
              </a:buClr>
              <a:buSzPct val="96875"/>
              <a:buFont typeface="Wingdings"/>
              <a:buChar char=""/>
              <a:tabLst>
                <a:tab pos="376555" algn="l"/>
              </a:tabLst>
            </a:pPr>
            <a:r>
              <a:rPr lang="en-US" dirty="0" smtClean="0">
                <a:latin typeface="Carlito"/>
                <a:cs typeface="Carlito"/>
              </a:rPr>
              <a:t>A </a:t>
            </a:r>
            <a:r>
              <a:rPr lang="en-US" spc="-5" dirty="0" smtClean="0">
                <a:latin typeface="Carlito"/>
                <a:cs typeface="Carlito"/>
              </a:rPr>
              <a:t>description </a:t>
            </a:r>
            <a:r>
              <a:rPr lang="en-US" spc="-15" dirty="0" smtClean="0">
                <a:latin typeface="Carlito"/>
                <a:cs typeface="Carlito"/>
              </a:rPr>
              <a:t>list </a:t>
            </a:r>
            <a:r>
              <a:rPr lang="en-US" dirty="0" smtClean="0">
                <a:latin typeface="Carlito"/>
                <a:cs typeface="Carlito"/>
              </a:rPr>
              <a:t>is a </a:t>
            </a:r>
            <a:r>
              <a:rPr lang="en-US" spc="-15" dirty="0" smtClean="0">
                <a:latin typeface="Carlito"/>
                <a:cs typeface="Carlito"/>
              </a:rPr>
              <a:t>list </a:t>
            </a:r>
            <a:r>
              <a:rPr lang="en-US" dirty="0" smtClean="0">
                <a:latin typeface="Carlito"/>
                <a:cs typeface="Carlito"/>
              </a:rPr>
              <a:t>of </a:t>
            </a:r>
            <a:r>
              <a:rPr lang="en-US" spc="-10" dirty="0" smtClean="0">
                <a:latin typeface="Carlito"/>
                <a:cs typeface="Carlito"/>
              </a:rPr>
              <a:t>terms, </a:t>
            </a:r>
            <a:r>
              <a:rPr lang="en-US" spc="-5" dirty="0" smtClean="0">
                <a:latin typeface="Carlito"/>
                <a:cs typeface="Carlito"/>
              </a:rPr>
              <a:t>with </a:t>
            </a:r>
            <a:r>
              <a:rPr lang="en-US" dirty="0" smtClean="0">
                <a:latin typeface="Carlito"/>
                <a:cs typeface="Carlito"/>
              </a:rPr>
              <a:t>a  </a:t>
            </a:r>
            <a:r>
              <a:rPr lang="en-US" spc="-5" dirty="0" smtClean="0">
                <a:latin typeface="Carlito"/>
                <a:cs typeface="Carlito"/>
              </a:rPr>
              <a:t>description of </a:t>
            </a:r>
            <a:r>
              <a:rPr lang="en-US" dirty="0" smtClean="0">
                <a:latin typeface="Carlito"/>
                <a:cs typeface="Carlito"/>
              </a:rPr>
              <a:t>each </a:t>
            </a:r>
            <a:r>
              <a:rPr lang="en-US" spc="-10" dirty="0" smtClean="0">
                <a:latin typeface="Carlito"/>
                <a:cs typeface="Carlito"/>
              </a:rPr>
              <a:t>term.</a:t>
            </a:r>
            <a:endParaRPr lang="en-US" dirty="0" smtClean="0">
              <a:latin typeface="Carlito"/>
              <a:cs typeface="Carlito"/>
            </a:endParaRPr>
          </a:p>
          <a:p>
            <a:pPr marL="375920" indent="-363855">
              <a:lnSpc>
                <a:spcPct val="100000"/>
              </a:lnSpc>
              <a:spcBef>
                <a:spcPts val="770"/>
              </a:spcBef>
              <a:buClr>
                <a:srgbClr val="FF0000"/>
              </a:buClr>
              <a:buSzPct val="96875"/>
              <a:buFont typeface="Wingdings"/>
              <a:buChar char=""/>
              <a:tabLst>
                <a:tab pos="376555" algn="l"/>
              </a:tabLst>
            </a:pPr>
            <a:r>
              <a:rPr lang="en-US" spc="-5" dirty="0" smtClean="0">
                <a:latin typeface="Carlito"/>
                <a:cs typeface="Carlito"/>
              </a:rPr>
              <a:t>The </a:t>
            </a:r>
            <a:r>
              <a:rPr lang="en-US" b="1" spc="-5" dirty="0" smtClean="0">
                <a:solidFill>
                  <a:srgbClr val="FF0000"/>
                </a:solidFill>
                <a:latin typeface="Carlito"/>
                <a:cs typeface="Carlito"/>
              </a:rPr>
              <a:t>&lt;dl&gt; </a:t>
            </a:r>
            <a:r>
              <a:rPr lang="en-US" spc="-15" dirty="0" smtClean="0">
                <a:latin typeface="Carlito"/>
                <a:cs typeface="Carlito"/>
              </a:rPr>
              <a:t>tag </a:t>
            </a:r>
            <a:r>
              <a:rPr lang="en-US" spc="-10" dirty="0" smtClean="0">
                <a:latin typeface="Carlito"/>
                <a:cs typeface="Carlito"/>
              </a:rPr>
              <a:t>defines </a:t>
            </a:r>
            <a:r>
              <a:rPr lang="en-US" dirty="0" smtClean="0">
                <a:latin typeface="Carlito"/>
                <a:cs typeface="Carlito"/>
              </a:rPr>
              <a:t>the </a:t>
            </a:r>
            <a:r>
              <a:rPr lang="en-US" spc="-5" dirty="0" smtClean="0">
                <a:latin typeface="Carlito"/>
                <a:cs typeface="Carlito"/>
              </a:rPr>
              <a:t>description </a:t>
            </a:r>
            <a:r>
              <a:rPr lang="en-US" spc="-10" dirty="0" smtClean="0">
                <a:latin typeface="Carlito"/>
                <a:cs typeface="Carlito"/>
              </a:rPr>
              <a:t>list,</a:t>
            </a:r>
            <a:r>
              <a:rPr lang="en-US" spc="20" dirty="0" smtClean="0">
                <a:latin typeface="Carlito"/>
                <a:cs typeface="Carlito"/>
              </a:rPr>
              <a:t> </a:t>
            </a:r>
            <a:r>
              <a:rPr lang="en-US" dirty="0" smtClean="0">
                <a:latin typeface="Carlito"/>
                <a:cs typeface="Carlito"/>
              </a:rPr>
              <a:t>the</a:t>
            </a:r>
          </a:p>
          <a:p>
            <a:pPr marL="355600">
              <a:lnSpc>
                <a:spcPct val="100000"/>
              </a:lnSpc>
            </a:pPr>
            <a:r>
              <a:rPr lang="en-US" b="1" dirty="0" smtClean="0">
                <a:solidFill>
                  <a:srgbClr val="FF0000"/>
                </a:solidFill>
                <a:latin typeface="Carlito"/>
                <a:cs typeface="Carlito"/>
              </a:rPr>
              <a:t>&lt;</a:t>
            </a:r>
            <a:r>
              <a:rPr lang="en-US" b="1" dirty="0" err="1" smtClean="0">
                <a:solidFill>
                  <a:srgbClr val="FF0000"/>
                </a:solidFill>
                <a:latin typeface="Carlito"/>
                <a:cs typeface="Carlito"/>
              </a:rPr>
              <a:t>dt</a:t>
            </a:r>
            <a:r>
              <a:rPr lang="en-US" b="1" dirty="0" smtClean="0">
                <a:solidFill>
                  <a:srgbClr val="FF0000"/>
                </a:solidFill>
                <a:latin typeface="Carlito"/>
                <a:cs typeface="Carlito"/>
              </a:rPr>
              <a:t>&gt; </a:t>
            </a:r>
            <a:r>
              <a:rPr lang="en-US" spc="-15" dirty="0" smtClean="0">
                <a:latin typeface="Carlito"/>
                <a:cs typeface="Carlito"/>
              </a:rPr>
              <a:t>tag </a:t>
            </a:r>
            <a:r>
              <a:rPr lang="en-US" spc="-10" dirty="0" smtClean="0">
                <a:latin typeface="Carlito"/>
                <a:cs typeface="Carlito"/>
              </a:rPr>
              <a:t>defines </a:t>
            </a:r>
            <a:r>
              <a:rPr lang="en-US" dirty="0" smtClean="0">
                <a:latin typeface="Carlito"/>
                <a:cs typeface="Carlito"/>
              </a:rPr>
              <a:t>the </a:t>
            </a:r>
            <a:r>
              <a:rPr lang="en-US" spc="-10" dirty="0" smtClean="0">
                <a:latin typeface="Carlito"/>
                <a:cs typeface="Carlito"/>
              </a:rPr>
              <a:t>term </a:t>
            </a:r>
            <a:r>
              <a:rPr lang="en-US" dirty="0" smtClean="0">
                <a:latin typeface="Carlito"/>
                <a:cs typeface="Carlito"/>
              </a:rPr>
              <a:t>(</a:t>
            </a:r>
            <a:r>
              <a:rPr lang="en-US" dirty="0" smtClean="0">
                <a:solidFill>
                  <a:srgbClr val="FF0000"/>
                </a:solidFill>
                <a:latin typeface="Carlito"/>
                <a:cs typeface="Carlito"/>
              </a:rPr>
              <a:t>name</a:t>
            </a:r>
            <a:r>
              <a:rPr lang="en-US" dirty="0" smtClean="0">
                <a:latin typeface="Carlito"/>
                <a:cs typeface="Carlito"/>
              </a:rPr>
              <a:t>), and</a:t>
            </a:r>
            <a:r>
              <a:rPr lang="en-US" spc="20" dirty="0" smtClean="0">
                <a:latin typeface="Carlito"/>
                <a:cs typeface="Carlito"/>
              </a:rPr>
              <a:t> </a:t>
            </a:r>
            <a:r>
              <a:rPr lang="en-US" dirty="0" smtClean="0">
                <a:latin typeface="Carlito"/>
                <a:cs typeface="Carlito"/>
              </a:rPr>
              <a:t>the</a:t>
            </a:r>
          </a:p>
          <a:p>
            <a:pPr marL="355600">
              <a:lnSpc>
                <a:spcPct val="100000"/>
              </a:lnSpc>
            </a:pPr>
            <a:r>
              <a:rPr lang="en-US" b="1" spc="-5" dirty="0" smtClean="0">
                <a:solidFill>
                  <a:srgbClr val="FF0000"/>
                </a:solidFill>
                <a:latin typeface="Carlito"/>
                <a:cs typeface="Carlito"/>
              </a:rPr>
              <a:t>&lt;</a:t>
            </a:r>
            <a:r>
              <a:rPr lang="en-US" b="1" spc="-5" dirty="0" err="1" smtClean="0">
                <a:solidFill>
                  <a:srgbClr val="FF0000"/>
                </a:solidFill>
                <a:latin typeface="Carlito"/>
                <a:cs typeface="Carlito"/>
              </a:rPr>
              <a:t>dd</a:t>
            </a:r>
            <a:r>
              <a:rPr lang="en-US" b="1" spc="-5" dirty="0" smtClean="0">
                <a:solidFill>
                  <a:srgbClr val="FF0000"/>
                </a:solidFill>
                <a:latin typeface="Carlito"/>
                <a:cs typeface="Carlito"/>
              </a:rPr>
              <a:t>&gt; </a:t>
            </a:r>
            <a:r>
              <a:rPr lang="en-US" spc="-15" dirty="0" smtClean="0">
                <a:latin typeface="Carlito"/>
                <a:cs typeface="Carlito"/>
              </a:rPr>
              <a:t>tag </a:t>
            </a:r>
            <a:r>
              <a:rPr lang="en-US" spc="-5" dirty="0" smtClean="0">
                <a:latin typeface="Carlito"/>
                <a:cs typeface="Carlito"/>
              </a:rPr>
              <a:t>describes </a:t>
            </a:r>
            <a:r>
              <a:rPr lang="en-US" dirty="0" smtClean="0">
                <a:latin typeface="Carlito"/>
                <a:cs typeface="Carlito"/>
              </a:rPr>
              <a:t>each</a:t>
            </a:r>
            <a:r>
              <a:rPr lang="en-US" spc="15" dirty="0" smtClean="0">
                <a:latin typeface="Carlito"/>
                <a:cs typeface="Carlito"/>
              </a:rPr>
              <a:t> </a:t>
            </a:r>
            <a:r>
              <a:rPr lang="en-US" spc="-10" dirty="0" smtClean="0">
                <a:latin typeface="Carlito"/>
                <a:cs typeface="Carlito"/>
              </a:rPr>
              <a:t>term:</a:t>
            </a:r>
            <a:endParaRPr lang="en-US" dirty="0" smtClean="0">
              <a:latin typeface="Carlito"/>
              <a:cs typeface="Carlito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6111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85" dirty="0">
                <a:latin typeface="Trebuchet MS"/>
                <a:cs typeface="Trebuchet MS"/>
              </a:rPr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4" name="object 3"/>
          <p:cNvGrpSpPr/>
          <p:nvPr/>
        </p:nvGrpSpPr>
        <p:grpSpPr>
          <a:xfrm>
            <a:off x="207263" y="1592594"/>
            <a:ext cx="11985413" cy="3801110"/>
            <a:chOff x="155447" y="1592594"/>
            <a:chExt cx="8989060" cy="3801110"/>
          </a:xfrm>
        </p:grpSpPr>
        <p:sp>
          <p:nvSpPr>
            <p:cNvPr id="5" name="object 4"/>
            <p:cNvSpPr/>
            <p:nvPr/>
          </p:nvSpPr>
          <p:spPr>
            <a:xfrm>
              <a:off x="155447" y="1592594"/>
              <a:ext cx="8988552" cy="380082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5"/>
            <p:cNvSpPr/>
            <p:nvPr/>
          </p:nvSpPr>
          <p:spPr>
            <a:xfrm>
              <a:off x="300037" y="1751329"/>
              <a:ext cx="8543925" cy="328612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920376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20" dirty="0" smtClean="0">
                <a:latin typeface="Carlito"/>
                <a:cs typeface="Carlito"/>
              </a:rPr>
              <a:t>Nested </a:t>
            </a:r>
            <a:r>
              <a:rPr lang="en-US" spc="-5" dirty="0" smtClean="0">
                <a:latin typeface="Carlito"/>
                <a:cs typeface="Carlito"/>
              </a:rPr>
              <a:t>HTML</a:t>
            </a:r>
            <a:r>
              <a:rPr lang="en-US" spc="-10" dirty="0" smtClean="0">
                <a:latin typeface="Carlito"/>
                <a:cs typeface="Carlito"/>
              </a:rPr>
              <a:t> </a:t>
            </a:r>
            <a:r>
              <a:rPr lang="en-US" spc="-15" dirty="0" smtClean="0">
                <a:latin typeface="Carlito"/>
                <a:cs typeface="Carlito"/>
              </a:rPr>
              <a:t>Lists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pc="-15" dirty="0" smtClean="0">
                <a:latin typeface="Carlito"/>
                <a:cs typeface="Carlito"/>
              </a:rPr>
              <a:t>List </a:t>
            </a:r>
            <a:r>
              <a:rPr lang="en-US" spc="-10" dirty="0" smtClean="0">
                <a:latin typeface="Carlito"/>
                <a:cs typeface="Carlito"/>
              </a:rPr>
              <a:t>can </a:t>
            </a:r>
            <a:r>
              <a:rPr lang="en-US" spc="-5" dirty="0" smtClean="0">
                <a:latin typeface="Carlito"/>
                <a:cs typeface="Carlito"/>
              </a:rPr>
              <a:t>be </a:t>
            </a:r>
            <a:r>
              <a:rPr lang="en-US" spc="-15" dirty="0" smtClean="0">
                <a:latin typeface="Carlito"/>
                <a:cs typeface="Carlito"/>
              </a:rPr>
              <a:t>nested </a:t>
            </a:r>
            <a:r>
              <a:rPr lang="en-US" spc="-10" dirty="0" smtClean="0">
                <a:latin typeface="Carlito"/>
                <a:cs typeface="Carlito"/>
              </a:rPr>
              <a:t>(lists </a:t>
            </a:r>
            <a:r>
              <a:rPr lang="en-US" spc="-5" dirty="0" smtClean="0">
                <a:latin typeface="Carlito"/>
                <a:cs typeface="Carlito"/>
              </a:rPr>
              <a:t>inside</a:t>
            </a:r>
            <a:r>
              <a:rPr lang="en-US" spc="70" dirty="0" smtClean="0">
                <a:latin typeface="Carlito"/>
                <a:cs typeface="Carlito"/>
              </a:rPr>
              <a:t> </a:t>
            </a:r>
            <a:r>
              <a:rPr lang="en-US" spc="-10" dirty="0" smtClean="0">
                <a:latin typeface="Carlito"/>
                <a:cs typeface="Carlito"/>
              </a:rPr>
              <a:t>lists):</a:t>
            </a:r>
            <a:endParaRPr lang="en-US" dirty="0" smtClean="0">
              <a:latin typeface="Carlito"/>
              <a:cs typeface="Carlito"/>
            </a:endParaRPr>
          </a:p>
          <a:p>
            <a:r>
              <a:rPr lang="en-US" dirty="0" smtClean="0"/>
              <a:t> </a:t>
            </a:r>
            <a:endParaRPr lang="en-US" dirty="0"/>
          </a:p>
        </p:txBody>
      </p:sp>
      <p:grpSp>
        <p:nvGrpSpPr>
          <p:cNvPr id="4" name="object 4"/>
          <p:cNvGrpSpPr/>
          <p:nvPr/>
        </p:nvGrpSpPr>
        <p:grpSpPr>
          <a:xfrm>
            <a:off x="12192" y="2360687"/>
            <a:ext cx="12180147" cy="4349750"/>
            <a:chOff x="9144" y="2360687"/>
            <a:chExt cx="9135110" cy="4349750"/>
          </a:xfrm>
        </p:grpSpPr>
        <p:sp>
          <p:nvSpPr>
            <p:cNvPr id="5" name="object 5"/>
            <p:cNvSpPr/>
            <p:nvPr/>
          </p:nvSpPr>
          <p:spPr>
            <a:xfrm>
              <a:off x="9144" y="2360687"/>
              <a:ext cx="9134856" cy="434947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2399" y="2519933"/>
              <a:ext cx="8686800" cy="3833241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605928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35" dirty="0" smtClean="0"/>
              <a:t>Horizontal</a:t>
            </a:r>
            <a:r>
              <a:rPr lang="en-US" spc="-60" dirty="0" smtClean="0"/>
              <a:t> </a:t>
            </a:r>
            <a:r>
              <a:rPr lang="en-US" spc="-300" dirty="0" smtClean="0"/>
              <a:t>Lists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55600" marR="194945" indent="-342900">
              <a:lnSpc>
                <a:spcPct val="100000"/>
              </a:lnSpc>
              <a:spcBef>
                <a:spcPts val="100"/>
              </a:spcBef>
              <a:buClr>
                <a:srgbClr val="FF0000"/>
              </a:buClr>
              <a:buSzPct val="96666"/>
              <a:buFont typeface="Wingdings"/>
              <a:buChar char=""/>
              <a:tabLst>
                <a:tab pos="355600" algn="l"/>
              </a:tabLst>
            </a:pPr>
            <a:r>
              <a:rPr lang="en-US" spc="-5" dirty="0" smtClean="0">
                <a:latin typeface="Carlito"/>
                <a:cs typeface="Carlito"/>
              </a:rPr>
              <a:t>HTML </a:t>
            </a:r>
            <a:r>
              <a:rPr lang="en-US" spc="-15" dirty="0" smtClean="0">
                <a:latin typeface="Carlito"/>
                <a:cs typeface="Carlito"/>
              </a:rPr>
              <a:t>lists </a:t>
            </a:r>
            <a:r>
              <a:rPr lang="en-US" spc="-10" dirty="0" smtClean="0">
                <a:latin typeface="Carlito"/>
                <a:cs typeface="Carlito"/>
              </a:rPr>
              <a:t>can </a:t>
            </a:r>
            <a:r>
              <a:rPr lang="en-US" spc="-5" dirty="0" smtClean="0">
                <a:latin typeface="Carlito"/>
                <a:cs typeface="Carlito"/>
              </a:rPr>
              <a:t>be </a:t>
            </a:r>
            <a:r>
              <a:rPr lang="en-US" spc="-10" dirty="0" smtClean="0">
                <a:latin typeface="Carlito"/>
                <a:cs typeface="Carlito"/>
              </a:rPr>
              <a:t>styled </a:t>
            </a:r>
            <a:r>
              <a:rPr lang="en-US" dirty="0" smtClean="0">
                <a:latin typeface="Carlito"/>
                <a:cs typeface="Carlito"/>
              </a:rPr>
              <a:t>in </a:t>
            </a:r>
            <a:r>
              <a:rPr lang="en-US" spc="-15" dirty="0" smtClean="0">
                <a:latin typeface="Carlito"/>
                <a:cs typeface="Carlito"/>
              </a:rPr>
              <a:t>many </a:t>
            </a:r>
            <a:r>
              <a:rPr lang="en-US" spc="-25" dirty="0" smtClean="0">
                <a:latin typeface="Carlito"/>
                <a:cs typeface="Carlito"/>
              </a:rPr>
              <a:t>different </a:t>
            </a:r>
            <a:r>
              <a:rPr lang="en-US" spc="-35" dirty="0" smtClean="0">
                <a:latin typeface="Carlito"/>
                <a:cs typeface="Carlito"/>
              </a:rPr>
              <a:t>ways  </a:t>
            </a:r>
            <a:r>
              <a:rPr lang="en-US" dirty="0" smtClean="0">
                <a:latin typeface="Carlito"/>
                <a:cs typeface="Carlito"/>
              </a:rPr>
              <a:t>with</a:t>
            </a:r>
            <a:r>
              <a:rPr lang="en-US" spc="-5" dirty="0" smtClean="0">
                <a:latin typeface="Carlito"/>
                <a:cs typeface="Carlito"/>
              </a:rPr>
              <a:t> </a:t>
            </a:r>
            <a:r>
              <a:rPr lang="en-US" spc="-10" dirty="0" smtClean="0">
                <a:latin typeface="Carlito"/>
                <a:cs typeface="Carlito"/>
              </a:rPr>
              <a:t>CSS.</a:t>
            </a:r>
            <a:endParaRPr lang="en-US" dirty="0" smtClean="0">
              <a:latin typeface="Carlito"/>
              <a:cs typeface="Carlito"/>
            </a:endParaRPr>
          </a:p>
          <a:p>
            <a:pPr marL="355600" marR="5080" indent="-342900">
              <a:lnSpc>
                <a:spcPct val="100000"/>
              </a:lnSpc>
              <a:spcBef>
                <a:spcPts val="720"/>
              </a:spcBef>
              <a:buClr>
                <a:srgbClr val="FF0000"/>
              </a:buClr>
              <a:buSzPct val="96666"/>
              <a:buFont typeface="Wingdings"/>
              <a:buChar char=""/>
              <a:tabLst>
                <a:tab pos="355600" algn="l"/>
              </a:tabLst>
            </a:pPr>
            <a:r>
              <a:rPr lang="en-US" spc="-5" dirty="0" smtClean="0">
                <a:latin typeface="Carlito"/>
                <a:cs typeface="Carlito"/>
              </a:rPr>
              <a:t>One popular </a:t>
            </a:r>
            <a:r>
              <a:rPr lang="en-US" spc="-80" dirty="0" smtClean="0">
                <a:latin typeface="Carlito"/>
                <a:cs typeface="Carlito"/>
              </a:rPr>
              <a:t>way, </a:t>
            </a:r>
            <a:r>
              <a:rPr lang="en-US" dirty="0" smtClean="0">
                <a:latin typeface="Carlito"/>
                <a:cs typeface="Carlito"/>
              </a:rPr>
              <a:t>is </a:t>
            </a:r>
            <a:r>
              <a:rPr lang="en-US" spc="-15" dirty="0" smtClean="0">
                <a:latin typeface="Carlito"/>
                <a:cs typeface="Carlito"/>
              </a:rPr>
              <a:t>to </a:t>
            </a:r>
            <a:r>
              <a:rPr lang="en-US" spc="-10" dirty="0" smtClean="0">
                <a:latin typeface="Carlito"/>
                <a:cs typeface="Carlito"/>
              </a:rPr>
              <a:t>style </a:t>
            </a:r>
            <a:r>
              <a:rPr lang="en-US" dirty="0" smtClean="0">
                <a:latin typeface="Carlito"/>
                <a:cs typeface="Carlito"/>
              </a:rPr>
              <a:t>a </a:t>
            </a:r>
            <a:r>
              <a:rPr lang="en-US" spc="-15" dirty="0" smtClean="0">
                <a:latin typeface="Carlito"/>
                <a:cs typeface="Carlito"/>
              </a:rPr>
              <a:t>list </a:t>
            </a:r>
            <a:r>
              <a:rPr lang="en-US" spc="-10" dirty="0" smtClean="0">
                <a:latin typeface="Carlito"/>
                <a:cs typeface="Carlito"/>
              </a:rPr>
              <a:t>to </a:t>
            </a:r>
            <a:r>
              <a:rPr lang="en-US" spc="-5" dirty="0" smtClean="0">
                <a:latin typeface="Carlito"/>
                <a:cs typeface="Carlito"/>
              </a:rPr>
              <a:t>be </a:t>
            </a:r>
            <a:r>
              <a:rPr lang="en-US" spc="-15" dirty="0" smtClean="0">
                <a:latin typeface="Carlito"/>
                <a:cs typeface="Carlito"/>
              </a:rPr>
              <a:t>displayed  horizontally:</a:t>
            </a:r>
            <a:endParaRPr lang="en-US" dirty="0" smtClean="0">
              <a:latin typeface="Carlito"/>
              <a:cs typeface="Carlito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9453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9313"/>
          </a:xfrm>
        </p:spPr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14438"/>
            <a:ext cx="10515600" cy="5643562"/>
          </a:xfrm>
        </p:spPr>
        <p:txBody>
          <a:bodyPr>
            <a:normAutofit fontScale="32500" lnSpcReduction="20000"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600" spc="-5" dirty="0" smtClean="0">
                <a:latin typeface="Carlito"/>
                <a:cs typeface="Carlito"/>
              </a:rPr>
              <a:t>&lt;!</a:t>
            </a:r>
            <a:r>
              <a:rPr lang="en-US" spc="-5" dirty="0" smtClean="0">
                <a:latin typeface="Carlito"/>
                <a:cs typeface="Carlito"/>
              </a:rPr>
              <a:t>DOCTYPE</a:t>
            </a:r>
            <a:r>
              <a:rPr lang="en-US" spc="-40" dirty="0" smtClean="0">
                <a:latin typeface="Carlito"/>
                <a:cs typeface="Carlito"/>
              </a:rPr>
              <a:t> </a:t>
            </a:r>
            <a:r>
              <a:rPr lang="en-US" dirty="0" smtClean="0">
                <a:latin typeface="Carlito"/>
                <a:cs typeface="Carlito"/>
              </a:rPr>
              <a:t>html&gt;</a:t>
            </a: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US" dirty="0" smtClean="0">
                <a:latin typeface="Carlito"/>
                <a:cs typeface="Carlito"/>
              </a:rPr>
              <a:t>&lt;html&gt;</a:t>
            </a:r>
          </a:p>
          <a:p>
            <a:pPr marL="12700">
              <a:lnSpc>
                <a:spcPct val="100000"/>
              </a:lnSpc>
            </a:pPr>
            <a:r>
              <a:rPr lang="en-US" spc="-5" dirty="0" smtClean="0">
                <a:latin typeface="Carlito"/>
                <a:cs typeface="Carlito"/>
              </a:rPr>
              <a:t>&lt;head&gt;</a:t>
            </a:r>
            <a:endParaRPr lang="en-US" dirty="0" smtClean="0">
              <a:latin typeface="Carlito"/>
              <a:cs typeface="Carlito"/>
            </a:endParaRPr>
          </a:p>
          <a:p>
            <a:pPr marL="12700" marR="2260600">
              <a:lnSpc>
                <a:spcPct val="100000"/>
              </a:lnSpc>
            </a:pPr>
            <a:r>
              <a:rPr lang="en-US" dirty="0" smtClean="0">
                <a:latin typeface="Carlito"/>
                <a:cs typeface="Carlito"/>
              </a:rPr>
              <a:t>&lt;style&gt;  </a:t>
            </a:r>
            <a:r>
              <a:rPr lang="en-US" dirty="0" err="1" smtClean="0">
                <a:latin typeface="Carlito"/>
                <a:cs typeface="Carlito"/>
              </a:rPr>
              <a:t>ul#menu</a:t>
            </a:r>
            <a:r>
              <a:rPr lang="en-US" spc="-110" dirty="0" smtClean="0">
                <a:latin typeface="Carlito"/>
                <a:cs typeface="Carlito"/>
              </a:rPr>
              <a:t> </a:t>
            </a:r>
            <a:r>
              <a:rPr lang="en-US" dirty="0" smtClean="0">
                <a:latin typeface="Carlito"/>
                <a:cs typeface="Carlito"/>
              </a:rPr>
              <a:t>{</a:t>
            </a:r>
          </a:p>
          <a:p>
            <a:pPr marL="139065">
              <a:lnSpc>
                <a:spcPct val="100000"/>
              </a:lnSpc>
            </a:pPr>
            <a:r>
              <a:rPr lang="en-US" spc="-5" dirty="0" smtClean="0">
                <a:latin typeface="Carlito"/>
                <a:cs typeface="Carlito"/>
              </a:rPr>
              <a:t>padding:</a:t>
            </a:r>
            <a:r>
              <a:rPr lang="en-US" spc="-15" dirty="0" smtClean="0">
                <a:latin typeface="Carlito"/>
                <a:cs typeface="Carlito"/>
              </a:rPr>
              <a:t> </a:t>
            </a:r>
            <a:r>
              <a:rPr lang="en-US" dirty="0" smtClean="0">
                <a:latin typeface="Carlito"/>
                <a:cs typeface="Carlito"/>
              </a:rPr>
              <a:t>0;</a:t>
            </a:r>
          </a:p>
          <a:p>
            <a:pPr marL="12700">
              <a:lnSpc>
                <a:spcPct val="100000"/>
              </a:lnSpc>
            </a:pPr>
            <a:r>
              <a:rPr lang="en-US" dirty="0" smtClean="0">
                <a:latin typeface="Carlito"/>
                <a:cs typeface="Carlito"/>
              </a:rPr>
              <a:t>}</a:t>
            </a: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lang="en-US" sz="2400" dirty="0" smtClean="0">
              <a:latin typeface="Carlito"/>
              <a:cs typeface="Carlito"/>
            </a:endParaRPr>
          </a:p>
          <a:p>
            <a:pPr marL="139065" marR="1898014" indent="-127000">
              <a:lnSpc>
                <a:spcPct val="100000"/>
              </a:lnSpc>
              <a:spcBef>
                <a:spcPts val="5"/>
              </a:spcBef>
            </a:pPr>
            <a:r>
              <a:rPr lang="en-US" dirty="0" err="1" smtClean="0">
                <a:latin typeface="Carlito"/>
                <a:cs typeface="Carlito"/>
              </a:rPr>
              <a:t>ul#menu</a:t>
            </a:r>
            <a:r>
              <a:rPr lang="en-US" dirty="0" smtClean="0">
                <a:latin typeface="Carlito"/>
                <a:cs typeface="Carlito"/>
              </a:rPr>
              <a:t> li {  display:</a:t>
            </a:r>
            <a:r>
              <a:rPr lang="en-US" spc="-80" dirty="0" smtClean="0">
                <a:latin typeface="Carlito"/>
                <a:cs typeface="Carlito"/>
              </a:rPr>
              <a:t> </a:t>
            </a:r>
            <a:r>
              <a:rPr lang="en-US" spc="-5" dirty="0" smtClean="0">
                <a:latin typeface="Carlito"/>
                <a:cs typeface="Carlito"/>
              </a:rPr>
              <a:t>inline;</a:t>
            </a:r>
            <a:endParaRPr lang="en-US" dirty="0" smtClean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lang="en-US" dirty="0" smtClean="0">
                <a:latin typeface="Carlito"/>
                <a:cs typeface="Carlito"/>
              </a:rPr>
              <a:t>}</a:t>
            </a: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lang="en-US" sz="2400" dirty="0" smtClean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lang="en-US" dirty="0" err="1" smtClean="0">
                <a:latin typeface="Carlito"/>
                <a:cs typeface="Carlito"/>
              </a:rPr>
              <a:t>ul#menu</a:t>
            </a:r>
            <a:r>
              <a:rPr lang="en-US" dirty="0" smtClean="0">
                <a:latin typeface="Carlito"/>
                <a:cs typeface="Carlito"/>
              </a:rPr>
              <a:t> li a</a:t>
            </a:r>
            <a:r>
              <a:rPr lang="en-US" spc="-50" dirty="0" smtClean="0">
                <a:latin typeface="Carlito"/>
                <a:cs typeface="Carlito"/>
              </a:rPr>
              <a:t> </a:t>
            </a:r>
            <a:r>
              <a:rPr lang="en-US" dirty="0" smtClean="0">
                <a:latin typeface="Carlito"/>
                <a:cs typeface="Carlito"/>
              </a:rPr>
              <a:t>{</a:t>
            </a:r>
          </a:p>
          <a:p>
            <a:pPr marL="139065" marR="1310640">
              <a:lnSpc>
                <a:spcPct val="100000"/>
              </a:lnSpc>
            </a:pPr>
            <a:r>
              <a:rPr lang="en-US" spc="-5" dirty="0" smtClean="0">
                <a:latin typeface="Carlito"/>
                <a:cs typeface="Carlito"/>
              </a:rPr>
              <a:t>background-color:</a:t>
            </a:r>
            <a:r>
              <a:rPr lang="en-US" spc="-50" dirty="0" smtClean="0">
                <a:latin typeface="Carlito"/>
                <a:cs typeface="Carlito"/>
              </a:rPr>
              <a:t> </a:t>
            </a:r>
            <a:r>
              <a:rPr lang="en-US" dirty="0" smtClean="0">
                <a:latin typeface="Carlito"/>
                <a:cs typeface="Carlito"/>
              </a:rPr>
              <a:t>black;  color:</a:t>
            </a:r>
            <a:r>
              <a:rPr lang="en-US" spc="-25" dirty="0" smtClean="0">
                <a:latin typeface="Carlito"/>
                <a:cs typeface="Carlito"/>
              </a:rPr>
              <a:t> </a:t>
            </a:r>
            <a:r>
              <a:rPr lang="en-US" dirty="0" smtClean="0">
                <a:latin typeface="Carlito"/>
                <a:cs typeface="Carlito"/>
              </a:rPr>
              <a:t>white;</a:t>
            </a:r>
          </a:p>
          <a:p>
            <a:pPr marL="139065" marR="1433195">
              <a:lnSpc>
                <a:spcPct val="100000"/>
              </a:lnSpc>
            </a:pPr>
            <a:r>
              <a:rPr lang="en-US" spc="-5" dirty="0" smtClean="0">
                <a:latin typeface="Carlito"/>
                <a:cs typeface="Carlito"/>
              </a:rPr>
              <a:t>padding: </a:t>
            </a:r>
            <a:r>
              <a:rPr lang="en-US" dirty="0" smtClean="0">
                <a:latin typeface="Carlito"/>
                <a:cs typeface="Carlito"/>
              </a:rPr>
              <a:t>10px </a:t>
            </a:r>
            <a:r>
              <a:rPr lang="en-US" spc="-5" dirty="0" smtClean="0">
                <a:latin typeface="Carlito"/>
                <a:cs typeface="Carlito"/>
              </a:rPr>
              <a:t>20px;  text-decoration:</a:t>
            </a:r>
            <a:r>
              <a:rPr lang="en-US" spc="-60" dirty="0" smtClean="0">
                <a:latin typeface="Carlito"/>
                <a:cs typeface="Carlito"/>
              </a:rPr>
              <a:t> </a:t>
            </a:r>
            <a:r>
              <a:rPr lang="en-US" dirty="0" smtClean="0">
                <a:latin typeface="Carlito"/>
                <a:cs typeface="Carlito"/>
              </a:rPr>
              <a:t>none;</a:t>
            </a:r>
          </a:p>
          <a:p>
            <a:pPr marL="139065">
              <a:lnSpc>
                <a:spcPct val="100000"/>
              </a:lnSpc>
            </a:pPr>
            <a:r>
              <a:rPr lang="en-US" spc="-5" dirty="0" smtClean="0">
                <a:latin typeface="Carlito"/>
                <a:cs typeface="Carlito"/>
              </a:rPr>
              <a:t>border-radius: </a:t>
            </a:r>
            <a:r>
              <a:rPr lang="en-US" dirty="0" smtClean="0">
                <a:latin typeface="Carlito"/>
                <a:cs typeface="Carlito"/>
              </a:rPr>
              <a:t>4px </a:t>
            </a:r>
            <a:r>
              <a:rPr lang="en-US" dirty="0" err="1" smtClean="0">
                <a:latin typeface="Carlito"/>
                <a:cs typeface="Carlito"/>
              </a:rPr>
              <a:t>4px</a:t>
            </a:r>
            <a:r>
              <a:rPr lang="en-US" dirty="0" smtClean="0">
                <a:latin typeface="Carlito"/>
                <a:cs typeface="Carlito"/>
              </a:rPr>
              <a:t> 0</a:t>
            </a:r>
            <a:r>
              <a:rPr lang="en-US" spc="-25" dirty="0" smtClean="0">
                <a:latin typeface="Carlito"/>
                <a:cs typeface="Carlito"/>
              </a:rPr>
              <a:t> </a:t>
            </a:r>
            <a:r>
              <a:rPr lang="en-US" dirty="0" smtClean="0">
                <a:latin typeface="Carlito"/>
                <a:cs typeface="Carlito"/>
              </a:rPr>
              <a:t>0;</a:t>
            </a:r>
          </a:p>
          <a:p>
            <a:pPr marL="12700">
              <a:lnSpc>
                <a:spcPct val="100000"/>
              </a:lnSpc>
            </a:pPr>
            <a:r>
              <a:rPr lang="en-US" dirty="0" smtClean="0">
                <a:latin typeface="Carlito"/>
                <a:cs typeface="Carlito"/>
              </a:rPr>
              <a:t>}</a:t>
            </a: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lang="en-US" sz="2400" dirty="0" smtClean="0">
              <a:latin typeface="Carlito"/>
              <a:cs typeface="Carlito"/>
            </a:endParaRPr>
          </a:p>
          <a:p>
            <a:pPr marL="139065" marR="1207135" indent="-127000">
              <a:lnSpc>
                <a:spcPct val="100000"/>
              </a:lnSpc>
            </a:pPr>
            <a:r>
              <a:rPr lang="en-US" dirty="0" err="1" smtClean="0">
                <a:latin typeface="Carlito"/>
                <a:cs typeface="Carlito"/>
              </a:rPr>
              <a:t>ul#menu</a:t>
            </a:r>
            <a:r>
              <a:rPr lang="en-US" dirty="0" smtClean="0">
                <a:latin typeface="Carlito"/>
                <a:cs typeface="Carlito"/>
              </a:rPr>
              <a:t> li a:hover {  </a:t>
            </a:r>
            <a:r>
              <a:rPr lang="en-US" spc="-5" dirty="0" smtClean="0">
                <a:latin typeface="Carlito"/>
                <a:cs typeface="Carlito"/>
              </a:rPr>
              <a:t>background-color:</a:t>
            </a:r>
            <a:r>
              <a:rPr lang="en-US" spc="-50" dirty="0" smtClean="0">
                <a:latin typeface="Carlito"/>
                <a:cs typeface="Carlito"/>
              </a:rPr>
              <a:t> </a:t>
            </a:r>
            <a:r>
              <a:rPr lang="en-US" dirty="0" smtClean="0">
                <a:latin typeface="Carlito"/>
                <a:cs typeface="Carlito"/>
              </a:rPr>
              <a:t>orange;</a:t>
            </a:r>
          </a:p>
          <a:p>
            <a:pPr marL="12700">
              <a:lnSpc>
                <a:spcPct val="100000"/>
              </a:lnSpc>
            </a:pPr>
            <a:r>
              <a:rPr lang="en-US" dirty="0" smtClean="0">
                <a:latin typeface="Carlito"/>
                <a:cs typeface="Carlito"/>
              </a:rPr>
              <a:t>}</a:t>
            </a:r>
          </a:p>
          <a:p>
            <a:pPr marL="12700">
              <a:lnSpc>
                <a:spcPct val="100000"/>
              </a:lnSpc>
            </a:pPr>
            <a:r>
              <a:rPr lang="en-US" dirty="0" smtClean="0">
                <a:latin typeface="Carlito"/>
                <a:cs typeface="Carlito"/>
              </a:rPr>
              <a:t>&lt;/style&gt;</a:t>
            </a:r>
          </a:p>
          <a:p>
            <a:pPr marL="12700">
              <a:lnSpc>
                <a:spcPct val="100000"/>
              </a:lnSpc>
            </a:pPr>
            <a:r>
              <a:rPr lang="en-US" dirty="0" smtClean="0">
                <a:latin typeface="Carlito"/>
                <a:cs typeface="Carlito"/>
              </a:rPr>
              <a:t>&lt;/head&gt;</a:t>
            </a:r>
          </a:p>
          <a:p>
            <a:pPr marL="12700">
              <a:lnSpc>
                <a:spcPct val="100000"/>
              </a:lnSpc>
            </a:pPr>
            <a:r>
              <a:rPr lang="en-US" spc="-5" dirty="0" smtClean="0">
                <a:latin typeface="Carlito"/>
                <a:cs typeface="Carlito"/>
              </a:rPr>
              <a:t>&lt;body&gt;</a:t>
            </a:r>
            <a:endParaRPr lang="en-US" dirty="0" smtClean="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lang="en-US" sz="2400" dirty="0" smtClean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US" dirty="0" smtClean="0">
                <a:latin typeface="Carlito"/>
                <a:cs typeface="Carlito"/>
              </a:rPr>
              <a:t>&lt;h2&gt;Horizontal</a:t>
            </a:r>
            <a:r>
              <a:rPr lang="en-US" spc="-40" dirty="0" smtClean="0">
                <a:latin typeface="Carlito"/>
                <a:cs typeface="Carlito"/>
              </a:rPr>
              <a:t> </a:t>
            </a:r>
            <a:r>
              <a:rPr lang="en-US" dirty="0" smtClean="0">
                <a:latin typeface="Carlito"/>
                <a:cs typeface="Carlito"/>
              </a:rPr>
              <a:t>List&lt;/h2&gt;</a:t>
            </a: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lang="en-US" sz="2400" dirty="0" smtClean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lang="en-US" dirty="0" smtClean="0">
                <a:latin typeface="Carlito"/>
                <a:cs typeface="Carlito"/>
              </a:rPr>
              <a:t>&lt;</a:t>
            </a:r>
            <a:r>
              <a:rPr lang="en-US" dirty="0" err="1" smtClean="0">
                <a:latin typeface="Carlito"/>
                <a:cs typeface="Carlito"/>
              </a:rPr>
              <a:t>ul</a:t>
            </a:r>
            <a:r>
              <a:rPr lang="en-US" spc="-15" dirty="0" smtClean="0">
                <a:latin typeface="Carlito"/>
                <a:cs typeface="Carlito"/>
              </a:rPr>
              <a:t> </a:t>
            </a:r>
            <a:r>
              <a:rPr lang="en-US" dirty="0" smtClean="0">
                <a:latin typeface="Carlito"/>
                <a:cs typeface="Carlito"/>
              </a:rPr>
              <a:t>id="menu"&gt;</a:t>
            </a:r>
          </a:p>
          <a:p>
            <a:pPr marL="76200">
              <a:lnSpc>
                <a:spcPct val="100000"/>
              </a:lnSpc>
            </a:pPr>
            <a:r>
              <a:rPr lang="en-US" spc="-5" dirty="0" smtClean="0">
                <a:latin typeface="Carlito"/>
                <a:cs typeface="Carlito"/>
              </a:rPr>
              <a:t>&lt;li&gt;&lt;a</a:t>
            </a:r>
            <a:r>
              <a:rPr lang="en-US" spc="-10" dirty="0" smtClean="0">
                <a:latin typeface="Carlito"/>
                <a:cs typeface="Carlito"/>
              </a:rPr>
              <a:t> </a:t>
            </a:r>
            <a:r>
              <a:rPr lang="en-US" spc="-5" dirty="0" err="1" smtClean="0">
                <a:latin typeface="Carlito"/>
                <a:cs typeface="Carlito"/>
              </a:rPr>
              <a:t>href</a:t>
            </a:r>
            <a:r>
              <a:rPr lang="en-US" spc="-5" dirty="0" smtClean="0">
                <a:latin typeface="Carlito"/>
                <a:cs typeface="Carlito"/>
              </a:rPr>
              <a:t>="/html/default.asp"&gt;HTML&lt;/a&gt;&lt;/li&gt;</a:t>
            </a:r>
            <a:endParaRPr lang="en-US" dirty="0" smtClean="0">
              <a:latin typeface="Carlito"/>
              <a:cs typeface="Carlito"/>
            </a:endParaRPr>
          </a:p>
          <a:p>
            <a:pPr marL="76200">
              <a:lnSpc>
                <a:spcPct val="100000"/>
              </a:lnSpc>
            </a:pPr>
            <a:r>
              <a:rPr lang="en-US" spc="-5" dirty="0" smtClean="0">
                <a:latin typeface="Carlito"/>
                <a:cs typeface="Carlito"/>
              </a:rPr>
              <a:t>&lt;li&gt;&lt;a</a:t>
            </a:r>
            <a:r>
              <a:rPr lang="en-US" spc="-20" dirty="0" smtClean="0">
                <a:latin typeface="Carlito"/>
                <a:cs typeface="Carlito"/>
              </a:rPr>
              <a:t> </a:t>
            </a:r>
            <a:r>
              <a:rPr lang="en-US" spc="-5" dirty="0" err="1" smtClean="0">
                <a:latin typeface="Carlito"/>
                <a:cs typeface="Carlito"/>
              </a:rPr>
              <a:t>href</a:t>
            </a:r>
            <a:r>
              <a:rPr lang="en-US" spc="-5" dirty="0" smtClean="0">
                <a:latin typeface="Carlito"/>
                <a:cs typeface="Carlito"/>
              </a:rPr>
              <a:t>="/</a:t>
            </a:r>
            <a:r>
              <a:rPr lang="en-US" spc="-5" dirty="0" err="1" smtClean="0">
                <a:latin typeface="Carlito"/>
                <a:cs typeface="Carlito"/>
              </a:rPr>
              <a:t>css</a:t>
            </a:r>
            <a:r>
              <a:rPr lang="en-US" spc="-5" dirty="0" smtClean="0">
                <a:latin typeface="Carlito"/>
                <a:cs typeface="Carlito"/>
              </a:rPr>
              <a:t>/default.asp"&gt;CSS&lt;/a&gt;&lt;/li&gt;</a:t>
            </a:r>
            <a:endParaRPr lang="en-US" dirty="0" smtClean="0">
              <a:latin typeface="Carlito"/>
              <a:cs typeface="Carlito"/>
            </a:endParaRPr>
          </a:p>
          <a:p>
            <a:pPr marL="76200">
              <a:lnSpc>
                <a:spcPct val="100000"/>
              </a:lnSpc>
            </a:pPr>
            <a:r>
              <a:rPr lang="en-US" spc="-5" dirty="0" smtClean="0">
                <a:latin typeface="Carlito"/>
                <a:cs typeface="Carlito"/>
              </a:rPr>
              <a:t>&lt;li&gt;&lt;a</a:t>
            </a:r>
            <a:r>
              <a:rPr lang="en-US" spc="5" dirty="0" smtClean="0">
                <a:latin typeface="Carlito"/>
                <a:cs typeface="Carlito"/>
              </a:rPr>
              <a:t> </a:t>
            </a:r>
            <a:r>
              <a:rPr lang="en-US" spc="-5" dirty="0" err="1" smtClean="0">
                <a:latin typeface="Carlito"/>
                <a:cs typeface="Carlito"/>
              </a:rPr>
              <a:t>href</a:t>
            </a:r>
            <a:r>
              <a:rPr lang="en-US" spc="-5" dirty="0" smtClean="0">
                <a:latin typeface="Carlito"/>
                <a:cs typeface="Carlito"/>
              </a:rPr>
              <a:t>="/</a:t>
            </a:r>
            <a:r>
              <a:rPr lang="en-US" spc="-5" dirty="0" err="1" smtClean="0">
                <a:latin typeface="Carlito"/>
                <a:cs typeface="Carlito"/>
              </a:rPr>
              <a:t>js</a:t>
            </a:r>
            <a:r>
              <a:rPr lang="en-US" spc="-5" dirty="0" smtClean="0">
                <a:latin typeface="Carlito"/>
                <a:cs typeface="Carlito"/>
              </a:rPr>
              <a:t>/default.asp"&gt;JavaScript&lt;/a&gt;&lt;/li&gt;</a:t>
            </a:r>
            <a:endParaRPr lang="en-US" dirty="0" smtClean="0">
              <a:latin typeface="Carlito"/>
              <a:cs typeface="Carlito"/>
            </a:endParaRPr>
          </a:p>
          <a:p>
            <a:pPr marL="76200">
              <a:lnSpc>
                <a:spcPct val="100000"/>
              </a:lnSpc>
            </a:pPr>
            <a:r>
              <a:rPr lang="en-US" spc="-5" dirty="0" smtClean="0">
                <a:latin typeface="Carlito"/>
                <a:cs typeface="Carlito"/>
              </a:rPr>
              <a:t>&lt;li&gt;&lt;a</a:t>
            </a:r>
            <a:r>
              <a:rPr lang="en-US" spc="-20" dirty="0" smtClean="0">
                <a:latin typeface="Carlito"/>
                <a:cs typeface="Carlito"/>
              </a:rPr>
              <a:t> </a:t>
            </a:r>
            <a:r>
              <a:rPr lang="en-US" spc="-5" dirty="0" err="1" smtClean="0">
                <a:latin typeface="Carlito"/>
                <a:cs typeface="Carlito"/>
              </a:rPr>
              <a:t>href</a:t>
            </a:r>
            <a:r>
              <a:rPr lang="en-US" spc="-5" dirty="0" smtClean="0">
                <a:latin typeface="Carlito"/>
                <a:cs typeface="Carlito"/>
              </a:rPr>
              <a:t>="/php/default.asp"&gt;PHP&lt;/a&gt;&lt;/li&gt;</a:t>
            </a:r>
            <a:endParaRPr lang="en-US" dirty="0" smtClean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lang="en-US" dirty="0" smtClean="0">
                <a:latin typeface="Carlito"/>
                <a:cs typeface="Carlito"/>
              </a:rPr>
              <a:t>&lt;/</a:t>
            </a:r>
            <a:r>
              <a:rPr lang="en-US" dirty="0" err="1" smtClean="0">
                <a:latin typeface="Carlito"/>
                <a:cs typeface="Carlito"/>
              </a:rPr>
              <a:t>ul</a:t>
            </a:r>
            <a:r>
              <a:rPr lang="en-US" dirty="0" smtClean="0">
                <a:latin typeface="Carlito"/>
                <a:cs typeface="Carlito"/>
              </a:rPr>
              <a:t>&gt;</a:t>
            </a:r>
          </a:p>
          <a:p>
            <a:pPr marL="12700">
              <a:lnSpc>
                <a:spcPct val="100000"/>
              </a:lnSpc>
            </a:pPr>
            <a:r>
              <a:rPr lang="en-US" dirty="0" smtClean="0">
                <a:latin typeface="Carlito"/>
                <a:cs typeface="Carlito"/>
              </a:rPr>
              <a:t>&lt;/body&gt;&lt;/html&gt;</a:t>
            </a:r>
            <a:endParaRPr lang="en-US" dirty="0" smtClean="0">
              <a:latin typeface="Carlito"/>
              <a:cs typeface="Carlito"/>
            </a:endParaRPr>
          </a:p>
          <a:p>
            <a:endParaRPr lang="en-US" dirty="0"/>
          </a:p>
        </p:txBody>
      </p:sp>
      <p:sp>
        <p:nvSpPr>
          <p:cNvPr id="4" name="object 4"/>
          <p:cNvSpPr/>
          <p:nvPr/>
        </p:nvSpPr>
        <p:spPr>
          <a:xfrm>
            <a:off x="5626100" y="2657476"/>
            <a:ext cx="4267200" cy="6762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70583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  <a:latin typeface="Aharoni" pitchFamily="2" charset="-79"/>
                <a:cs typeface="Aharoni" pitchFamily="2" charset="-79"/>
              </a:rPr>
              <a:t>Comment Tags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>
                <a:solidFill>
                  <a:srgbClr val="FF0000"/>
                </a:solidFill>
                <a:latin typeface="Aharoni" pitchFamily="2" charset="-79"/>
                <a:cs typeface="Aharoni" pitchFamily="2" charset="-79"/>
              </a:rPr>
              <a:t>Example:</a:t>
            </a:r>
          </a:p>
          <a:p>
            <a:pPr marL="0" indent="0">
              <a:buNone/>
            </a:pPr>
            <a:r>
              <a:rPr lang="en-US" dirty="0" smtClean="0"/>
              <a:t>&lt;!-- This is a comment --&gt;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&lt;p&gt;This is a paragraph.&lt;/p&gt;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&lt;!-- Remember to add more information here --&gt;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  <a:latin typeface="Aharoni" pitchFamily="2" charset="-79"/>
                <a:cs typeface="Aharoni" pitchFamily="2" charset="-79"/>
              </a:rPr>
              <a:t>Output:</a:t>
            </a:r>
          </a:p>
          <a:p>
            <a:endParaRPr lang="en-US" dirty="0"/>
          </a:p>
        </p:txBody>
      </p:sp>
      <p:pic>
        <p:nvPicPr>
          <p:cNvPr id="7" name="Picture 4" descr="https://encrypted-tbn1.gstatic.com/images?q=tbn:ANd9GcSSHJDuh8FDUaR6hilaKc_CNuC4z7VwYPvO_jJs1qefXoawY5XFC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3200" y="1350745"/>
            <a:ext cx="4368800" cy="2173506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0" descr="https://upload.wikimedia.org/wikipedia/commons/thumb/6/61/HTML5_logo_and_wordmark.svg/2000px-HTML5_logo_and_wordmark.svg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9091" y="4718151"/>
            <a:ext cx="2377017" cy="1782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1" y="4753408"/>
            <a:ext cx="4650268" cy="1914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80479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40</TotalTime>
  <Words>1330</Words>
  <Application>Microsoft Office PowerPoint</Application>
  <PresentationFormat>Widescreen</PresentationFormat>
  <Paragraphs>219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2" baseType="lpstr">
      <vt:lpstr>Agency FB</vt:lpstr>
      <vt:lpstr>Aharoni</vt:lpstr>
      <vt:lpstr>Arial</vt:lpstr>
      <vt:lpstr>Carlito</vt:lpstr>
      <vt:lpstr>Trebuchet MS</vt:lpstr>
      <vt:lpstr>Wingdings</vt:lpstr>
      <vt:lpstr>Wingdings 3</vt:lpstr>
      <vt:lpstr>Facet</vt:lpstr>
      <vt:lpstr>Web Development Bootcamp Class – 2: HTML</vt:lpstr>
      <vt:lpstr>HTML Syntax</vt:lpstr>
      <vt:lpstr>DOCTYPE</vt:lpstr>
      <vt:lpstr>Syntax Explaination</vt:lpstr>
      <vt:lpstr>Continued…</vt:lpstr>
      <vt:lpstr>Tags</vt:lpstr>
      <vt:lpstr>Write HTML Using Notepad Notepad++ or TextEdit </vt:lpstr>
      <vt:lpstr>HTML Headings</vt:lpstr>
      <vt:lpstr>HTML Paragraphs</vt:lpstr>
      <vt:lpstr>HTML Links</vt:lpstr>
      <vt:lpstr>HTML Images</vt:lpstr>
      <vt:lpstr>The lang Attribute</vt:lpstr>
      <vt:lpstr>The title Attribute</vt:lpstr>
      <vt:lpstr>HTML Horizontal Rules</vt:lpstr>
      <vt:lpstr>The HTML &lt;meta&gt; Element</vt:lpstr>
      <vt:lpstr>HTML Line Breaks</vt:lpstr>
      <vt:lpstr>The HTML &lt;pre&gt; Element</vt:lpstr>
      <vt:lpstr>HTML Styling</vt:lpstr>
      <vt:lpstr>Example</vt:lpstr>
      <vt:lpstr>Text</vt:lpstr>
      <vt:lpstr>Text Formatting Elements</vt:lpstr>
      <vt:lpstr>Quotations</vt:lpstr>
      <vt:lpstr>Some Other Element</vt:lpstr>
      <vt:lpstr>Ordered VS Unordered List</vt:lpstr>
      <vt:lpstr>Unordered HTML Lists</vt:lpstr>
      <vt:lpstr>Unordered HTML Lists - The Style  Attribute</vt:lpstr>
      <vt:lpstr>Ordered HTML Lists</vt:lpstr>
      <vt:lpstr>Continue</vt:lpstr>
      <vt:lpstr>HTML Description Lists  </vt:lpstr>
      <vt:lpstr>Example</vt:lpstr>
      <vt:lpstr>Nested HTML Lists</vt:lpstr>
      <vt:lpstr>Horizontal Lists</vt:lpstr>
      <vt:lpstr>Example</vt:lpstr>
      <vt:lpstr>Comment Tags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Development Bootcamp Class – 2: HTML</dc:title>
  <dc:creator>Microsoft account</dc:creator>
  <cp:lastModifiedBy>Microsoft account</cp:lastModifiedBy>
  <cp:revision>6</cp:revision>
  <dcterms:created xsi:type="dcterms:W3CDTF">2026-02-25T10:11:12Z</dcterms:created>
  <dcterms:modified xsi:type="dcterms:W3CDTF">2026-02-25T10:52:12Z</dcterms:modified>
</cp:coreProperties>
</file>